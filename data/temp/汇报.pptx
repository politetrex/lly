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autoCompressPictures="0">
  <p:sldMasterIdLst>
    <p:sldMasterId id="2147483648" r:id="rId1"/>
    <p:sldMasterId id="2147483660" r:id="rId3"/>
  </p:sldMasterIdLst>
  <p:notesMasterIdLst>
    <p:notesMasterId r:id="rId5"/>
  </p:notesMasterIdLst>
  <p:sldIdLst>
    <p:sldId id="256" r:id="rId4"/>
    <p:sldId id="257" r:id="rId6"/>
    <p:sldId id="258" r:id="rId7"/>
    <p:sldId id="259" r:id="rId8"/>
    <p:sldId id="262" r:id="rId9"/>
    <p:sldId id="260" r:id="rId10"/>
    <p:sldId id="261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L="0"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1pPr>
    <a:lvl2pPr marL="457200"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2pPr>
    <a:lvl3pPr marL="914400"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3pPr>
    <a:lvl4pPr marL="1371600"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4pPr>
    <a:lvl5pPr marL="1828800"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5pPr>
    <a:lvl6pPr marL="2286000"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6pPr>
    <a:lvl7pPr marL="2743200"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7pPr>
    <a:lvl8pPr marL="3200400"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8pPr>
    <a:lvl9pPr marL="3657600"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747775"/>
          </p15:clr>
        </p15:guide>
        <p15:guide id="2" pos="2880" userDrawn="1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showComments="0">
  <p:normalViewPr>
    <p:restoredLeft sz="15620"/>
    <p:restoredTop sz="94660"/>
  </p:normalViewPr>
  <p:slideViewPr>
    <p:cSldViewPr snapToGrid="0" showGuides="1">
      <p:cViewPr varScale="1">
        <p:scale>
          <a:sx n="100" d="100"/>
          <a:sy n="100" d="100"/>
        </p:scale>
        <p:origin x="0" y="0"/>
      </p:cViewPr>
      <p:guideLst>
        <p:guide orient="horz" pos="1620"/>
        <p:guide pos="2880"/>
      </p:guideLst>
    </p:cSldViewPr>
  </p:slide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4" Type="http://schemas.openxmlformats.org/officeDocument/2006/relationships/tableStyles" Target="tableStyles.xml"/><Relationship Id="rId23" Type="http://schemas.openxmlformats.org/officeDocument/2006/relationships/viewProps" Target="viewProps.xml"/><Relationship Id="rId22" Type="http://schemas.openxmlformats.org/officeDocument/2006/relationships/presProps" Target="presProps.xml"/><Relationship Id="rId21" Type="http://schemas.openxmlformats.org/officeDocument/2006/relationships/slide" Target="slides/slide17.xml"/><Relationship Id="rId20" Type="http://schemas.openxmlformats.org/officeDocument/2006/relationships/slide" Target="slides/slide16.xml"/><Relationship Id="rId2" Type="http://schemas.openxmlformats.org/officeDocument/2006/relationships/theme" Target="theme/theme1.xml"/><Relationship Id="rId19" Type="http://schemas.openxmlformats.org/officeDocument/2006/relationships/slide" Target="slides/slide15.xml"/><Relationship Id="rId18" Type="http://schemas.openxmlformats.org/officeDocument/2006/relationships/slide" Target="slides/slide14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</a:fld>
            <a:endParaRPr lang="cs-CZ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大家好，今天我们将聚焦于2026年9月初，台风“沙德尔”给福建莆田带来的严重洪涝灾害。这场灾害不仅考验着当地的应急管理体系，更成为了一次展示现代科技在救援行动中巨大威力的实战演练。本次报告将深入探讨灾害概况、应急响应，并重点分析无人机、大型排涝泵站等科技力量如何成为守护人民生命财产安全的关键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本次报告将分为四个部分。首先，我们将回顾此次洪涝灾害的基本情况和政府采取的应急措施。其次，也是本次报告的重点，我们将详细分析无人机、排涝泵站和应急通信等现代科技在救援中的具体应用和成效。接着，我们会展望一些更前沿的技术在未来防灾减灾领域的潜力。最后，对本次事件进行总结，并探讨其带来的启示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现在我们进入第一部分：灾情概况与应急响应。2026年9月初，受台风“沙德尔”影响，莆田遭遇了历史罕见的强降雨，小时降雨量一度达到全国第一。这直接导致了堤坝溃口、房屋倒塌等严重灾情。面对严峻形势，当地政府迅速启动了最高级别的暴雨预警，并果断采取了“三停一休”等一系列紧急措施，全力保障人民生命安全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这次灾害的严重性首先体现在惊人的降雨强度上。9月4日凌晨，莆田站点的小时降水量高达174.7毫米，创下全国纪录。如此极端的天气，直接引发了一系列连锁灾害：堤坝溃口导致河水倒灌，超过100间房屋倒塌，大量群众被困，整个城市的交通和基础设施陷入瘫痪。这些数字背后，是无数家庭面临的巨大威胁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接下来，我们进入报告的核心部分：现代科技在救援中的应用。在传统手段难以施展的恶劣环境下，科技成为了破局的关键。我们将从三个方面展开：首先是作为“空中之眼”的无人机，它如何打通生命补给线；其次是作为“城市之肺”的大型排涝泵站，如何快速恢复城市功能；最后是作为“信息神经”的应急通信体系，如何保障指挥调度的畅通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这次灾害的破坏力是巨大的。大家可以看到，堤坝溃口导致洪水汹涌而出，瞬间淹没了周边的村庄和农田。同时，许多房屋也未能经受住洪水的冲击，整栋楼体倾斜倒塌，沉入水中。这些画面直观地展示了我们所面临的严峻挑战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面对突如其来的灾难，政府的应急响应至关重要。莆田市迅速发布了最高级别的暴雨红色预警，并在全市范围内实行了“三停一休”的强制措施，这是保护人民生命安全的关键一步。同时，大规模的人员转移工作同步展开，仅西湖村就安全转移了171人。武警、消防等救援力量更是第一时间投入战斗，用冲锋舟等设备连夜转移被困群众，展现了高效的应急处置能力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在地面交通完全瘫痪的情况下，无人机成为了救援的“空中之眼”和“生命线”。一个典型的案例是，福州消防跨区域支援莆田时，利用无人机向被困十余小时的群众精准投送了超过50次生活物资。无人机的高机动性、精准定位和实时侦察能力，使其在灾情勘察和物资投送方面发挥了不可替代的作用，为后方指挥部提供了宝贵的决策依据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如果说无人机是空中的希望，那么大型排涝泵站就是城市的“肺”。在此次灾害中，莆田新建的华林和霞林排涝泵站发挥了关键作用。通过科学调度，采取“高水高排”和“先堵后排”的策略，两个泵站协同作战，全力抽排城市积水。从这张现场照片可以看到，泵站正在高速运转，将大量积水排入木兰溪，有效缓解了城市内涝，为后续的恢复工作赢得了宝贵时间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在任何灾害中，通信都是生命线。中国电信福建公司打响了一场通信保卫战。他们启动了三级联动指挥体系，通过智能运营指挥调度中心实时监控灾情。面对21个因积水停电的机房，抢修人员逆水而上，紧急补电；对于被压断的光缆，他们连夜抢修。这张图片展示的就是他们的指挥中心，正是这样高效的协同，才确保了指挥调度和信息传递的畅通无阻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通信保障的背后，是无数一线抢修人员的辛勤付出。全省累计出动了701人次的应急保障人员，投入了248辆次的应急车辆和122台次的发电油机。这张照片生动地展现了抢修人员在恶劣天气下，如何艰难地搬运沉重的设备，确保通信基站不中断。这些数字和画面，共同构成了保障灾区通信畅通的坚固防线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本次救援行动不仅展示了现有科技的威力，也让我们看到了更多前沿技术的巨大潜力。在第三部分，我们将探讨一些正在发展或已在其他地区应用的“黑科技”，它们将如何进一步提升我们未来的防灾减灾能力。这包括无需依赖地面设施的卫星便携基站，能够远程操作的智能排水机器人，以及利用AI进行辅助决策的智能系统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想象一下，当地面通信完全中断时，我们如何保持联系？答案就是卫星便携基站。这种设备无需依赖任何地面设施，只要有天空，就能通过卫星建立通信网络。在浙江受“沙德尔”影响的地区，这种“卫星背包”已经投入使用。它的快速部署能力，使其成为未来应对极端灾害、保障指挥通信的终极武器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在排涝方面，一种新的利器正在崭露头角——智能排水机器人。在厦门的防汛演练中，这种机器人首次投入使用。它的排水量每小时高达1200立方米，更重要的是，它支持远程遥控操作。这意味着操作人员可以在安全地带，让机器人进入危险的积水区域进行排涝作业。这不仅大大提高了效率，更从根本上保障了救援人员的生命安全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除了我们刚才提到的技术，还有许多其他前沿科技在防灾减灾领域展现出巨大潜力。例如，水下机器人可以用于水下勘察和搜救；生命探测仪能在废墟和积水中快速定位幸存者；而AI辅助决策系统则可以通过分析海量数据，帮助我们更科学地预测灾情、调度资源。这些技术的综合应用，将构建一个更加智能和高效的应急救援体系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最后，我们来总结一下。在这次莆田抗洪救灾中，科技展现出了巨大的价值。无人机实现了精准的空中支援，大型排涝泵站加速了城市的恢复，而应急通信则保障了整个指挥体系的稳定。科技赋能，让我们的防灾减灾工作更具预见性、精准性和高效性。展望未来，随着更多像卫星基站、智能机器人这样的前沿技术投入应用，我们守护人民生命财产安全的能力必将达到一个全新的高度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我的报告到此结束。感谢大家的聆听。我们相信，在科技的助力下，我们能够更好地应对未来的各种挑战，让我们的家园变得更加安全。谢谢大家！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matchingName="标题幻灯片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panose="020B0604020202090204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" name="Shape 31"/>
          <p:cNvSpPr txBox="1"/>
          <p:nvPr>
            <p:ph type="subTitle" idx="1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4" name="Shape 32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" name="Shape 33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" name="Shape 34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matchingName="标题和内容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" name="Shape 55"/>
          <p:cNvSpPr txBox="1"/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0" name="Shape 5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1" name="Shape 5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2" name="Shape 5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matchingName="节标题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/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panose="020B0604020202090204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5" name="Shape 60"/>
          <p:cNvSpPr txBox="1"/>
          <p:nvPr>
            <p:ph type="body" idx="1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Shape 6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7" name="Shape 6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8" name="Shape 6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matchingName="两栏内容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1" name="Shape 10"/>
          <p:cNvSpPr txBox="1"/>
          <p:nvPr>
            <p:ph type="body" idx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2" name="Shape 11"/>
          <p:cNvSpPr txBox="1"/>
          <p:nvPr>
            <p:ph type="body" idx="2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3" name="Shape 12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4" name="Shape 13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5" name="Shape 14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matchingName="比较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/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8" name="Shape 36"/>
          <p:cNvSpPr txBox="1"/>
          <p:nvPr>
            <p:ph type="body" idx="1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/>
        </p:txBody>
      </p:sp>
      <p:sp>
        <p:nvSpPr>
          <p:cNvPr id="39" name="Shape 37"/>
          <p:cNvSpPr txBox="1"/>
          <p:nvPr>
            <p:ph type="body" idx="2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0" name="Shape 38"/>
          <p:cNvSpPr txBox="1"/>
          <p:nvPr>
            <p:ph type="body" idx="3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/>
        </p:txBody>
      </p:sp>
      <p:sp>
        <p:nvSpPr>
          <p:cNvPr id="41" name="Shape 39"/>
          <p:cNvSpPr txBox="1"/>
          <p:nvPr>
            <p:ph type="body" idx="4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2" name="Shape 40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3" name="Shape 41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4" name="Shape 42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matchingName="仅标题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7" name="Shape 2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8" name="Shape 2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9" name="Shape 2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matchingName="空白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2" name="Shape 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3" name="Shape 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matchingName="内容与标题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90204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6" name="Shape 44"/>
          <p:cNvSpPr txBox="1"/>
          <p:nvPr>
            <p:ph type="body"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57" name="Shape 45"/>
          <p:cNvSpPr txBox="1"/>
          <p:nvPr>
            <p:ph type="body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58" name="Shape 4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9" name="Shape 4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0" name="Shape 4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matchingName="图片与标题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90204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3" name="Shape 25"/>
          <p:cNvSpPr/>
          <p:nvPr>
            <p:ph type="pic" idx="2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/>
          <p:nvPr>
            <p:ph type="body" idx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65" name="Shape 27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6" name="Shape 28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7" name="Shape 29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matchingName="标题和竖排文字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Shape 50"/>
          <p:cNvSpPr txBox="1"/>
          <p:nvPr>
            <p:ph type="body" idx="1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1" name="Shape 5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2" name="Shape 5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3" name="Shape 5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matchingName="竖排标题与文本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/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Shape 16"/>
          <p:cNvSpPr txBox="1"/>
          <p:nvPr>
            <p:ph type="body" idx="1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7" name="Shape 17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8" name="Shape 18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9" name="Shape 19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 panose="020B0604020202090204"/>
              <a:buNone/>
              <a:defRPr sz="33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7" name="Shape 2"/>
          <p:cNvSpPr txBox="1"/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 panose="020B0604020202090204"/>
              <a:buChar char="•"/>
              <a:defRPr sz="21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90204"/>
              <a:buChar char="•"/>
              <a:defRPr sz="18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90204"/>
              <a:buChar char="•"/>
              <a:defRPr sz="15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9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9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9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9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9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9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9pPr>
          </a:lstStyle>
          <a:p/>
        </p:txBody>
      </p:sp>
      <p:sp>
        <p:nvSpPr>
          <p:cNvPr id="8" name="Shape 3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9pPr>
          </a:lstStyle>
          <a:p/>
        </p:txBody>
      </p:sp>
      <p:sp>
        <p:nvSpPr>
          <p:cNvPr id="9" name="Shape 4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9pPr>
          </a:lstStyle>
          <a:p/>
        </p:txBody>
      </p:sp>
      <p:sp>
        <p:nvSpPr>
          <p:cNvPr id="10" name="Shape 5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2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3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2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4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5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9.jpe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2.jpe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10.jpe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7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11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rcRect t="5000" b="5000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00000">
              <a:alpha val="19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406400" y="4572000"/>
            <a:ext cx="10160000" cy="1333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70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科技赋能 守护生命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406400" y="330200"/>
            <a:ext cx="762000" cy="190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灾害救援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431800" y="5994400"/>
            <a:ext cx="111760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台风“沙德尔”致福建莆田洪涝灾害与科技救援专题报告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1130300" y="330200"/>
            <a:ext cx="762000" cy="190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应急管理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11163300" y="317500"/>
            <a:ext cx="762000" cy="266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t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FFFFFF"/>
                </a:solidFill>
                <a:latin typeface="ChillDuanSans WideSemiBold"/>
                <a:ea typeface="ChillDuanSans WideSemiBold"/>
                <a:cs typeface="ChillDuanSans WideSemiBold"/>
                <a:sym typeface="ChillDuanSans WideSemiBold"/>
              </a:rPr>
              <a:t>2026</a:t>
            </a:r>
            <a:endParaRPr lang="en-US" sz="1100"/>
          </a:p>
        </p:txBody>
      </p:sp>
      <p:cxnSp>
        <p:nvCxnSpPr>
          <p:cNvPr id="9" name="Connector 9"/>
          <p:cNvCxnSpPr/>
          <p:nvPr/>
        </p:nvCxnSpPr>
        <p:spPr>
          <a:xfrm rot="5019588">
            <a:off x="971550" y="419452"/>
            <a:ext cx="1143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C5C7C8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304800" y="1117600"/>
            <a:ext cx="2959100" cy="8763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7000" b="1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目录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406400" y="5778500"/>
            <a:ext cx="4826000" cy="685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本报告聚焦洪涝灾害中的科技救援实践，系统梳理应急响应机制、前沿技术应用及未来发展趋势，为防灾减灾体系建设提供分析与参考。</a:t>
            </a:r>
            <a:endParaRPr lang="en-US" sz="1100"/>
          </a:p>
        </p:txBody>
      </p:sp>
      <p:cxnSp>
        <p:nvCxnSpPr>
          <p:cNvPr id="4" name="Connector 4"/>
          <p:cNvCxnSpPr/>
          <p:nvPr/>
        </p:nvCxnSpPr>
        <p:spPr>
          <a:xfrm rot="-7044">
            <a:off x="5588007" y="6457950"/>
            <a:ext cx="6197600" cy="12700"/>
          </a:xfrm>
          <a:prstGeom prst="straightConnector1">
            <a:avLst/>
          </a:prstGeom>
          <a:solidFill>
            <a:srgbClr val="DEE0E3">
              <a:alpha val="50000"/>
            </a:srgbClr>
          </a:solidFill>
          <a:ln w="12700" cap="flat" cmpd="sng">
            <a:solidFill>
              <a:srgbClr val="2B2F36">
                <a:alpha val="5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" name="AutoShape 5"/>
          <p:cNvSpPr/>
          <p:nvPr/>
        </p:nvSpPr>
        <p:spPr>
          <a:xfrm>
            <a:off x="5588000" y="2159000"/>
            <a:ext cx="6096000" cy="6731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01</a:t>
            </a:r>
            <a:r>
              <a:rPr lang="en-US" sz="25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 灾情概况与应急响应</a:t>
            </a:r>
            <a:endParaRPr lang="en-US" sz="1100"/>
          </a:p>
        </p:txBody>
      </p:sp>
      <p:cxnSp>
        <p:nvCxnSpPr>
          <p:cNvPr id="6" name="Connector 6"/>
          <p:cNvCxnSpPr/>
          <p:nvPr/>
        </p:nvCxnSpPr>
        <p:spPr>
          <a:xfrm rot="-7044">
            <a:off x="5588007" y="2851150"/>
            <a:ext cx="6197600" cy="12700"/>
          </a:xfrm>
          <a:prstGeom prst="straightConnector1">
            <a:avLst/>
          </a:prstGeom>
          <a:solidFill>
            <a:srgbClr val="DEE0E3">
              <a:alpha val="50000"/>
            </a:srgbClr>
          </a:solidFill>
          <a:ln w="12700" cap="flat" cmpd="sng">
            <a:solidFill>
              <a:srgbClr val="2B2F36">
                <a:alpha val="5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7" name="AutoShape 7"/>
          <p:cNvSpPr/>
          <p:nvPr/>
        </p:nvSpPr>
        <p:spPr>
          <a:xfrm>
            <a:off x="5588000" y="3111500"/>
            <a:ext cx="6096000" cy="6731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02</a:t>
            </a:r>
            <a:r>
              <a:rPr lang="en-US" sz="25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 现代科技在救援中的核心应用</a:t>
            </a:r>
            <a:endParaRPr lang="en-US" sz="1100"/>
          </a:p>
        </p:txBody>
      </p:sp>
      <p:cxnSp>
        <p:nvCxnSpPr>
          <p:cNvPr id="8" name="Connector 8"/>
          <p:cNvCxnSpPr/>
          <p:nvPr/>
        </p:nvCxnSpPr>
        <p:spPr>
          <a:xfrm rot="-7044">
            <a:off x="5588007" y="3803650"/>
            <a:ext cx="6197600" cy="12700"/>
          </a:xfrm>
          <a:prstGeom prst="straightConnector1">
            <a:avLst/>
          </a:prstGeom>
          <a:solidFill>
            <a:srgbClr val="DEE0E3">
              <a:alpha val="50000"/>
            </a:srgbClr>
          </a:solidFill>
          <a:ln w="12700" cap="flat" cmpd="sng">
            <a:solidFill>
              <a:srgbClr val="2B2F36">
                <a:alpha val="5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9" name="AutoShape 9"/>
          <p:cNvSpPr/>
          <p:nvPr/>
        </p:nvSpPr>
        <p:spPr>
          <a:xfrm>
            <a:off x="5588000" y="4064000"/>
            <a:ext cx="6096000" cy="6731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03</a:t>
            </a:r>
            <a:r>
              <a:rPr lang="en-US" sz="25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 前沿科技与未来展望</a:t>
            </a:r>
            <a:endParaRPr lang="en-US" sz="1100"/>
          </a:p>
        </p:txBody>
      </p:sp>
      <p:cxnSp>
        <p:nvCxnSpPr>
          <p:cNvPr id="10" name="Connector 10"/>
          <p:cNvCxnSpPr/>
          <p:nvPr/>
        </p:nvCxnSpPr>
        <p:spPr>
          <a:xfrm rot="-7044">
            <a:off x="5588007" y="4756150"/>
            <a:ext cx="6197600" cy="12700"/>
          </a:xfrm>
          <a:prstGeom prst="straightConnector1">
            <a:avLst/>
          </a:prstGeom>
          <a:solidFill>
            <a:srgbClr val="DEE0E3">
              <a:alpha val="50000"/>
            </a:srgbClr>
          </a:solidFill>
          <a:ln w="12700" cap="flat" cmpd="sng">
            <a:solidFill>
              <a:srgbClr val="2B2F36">
                <a:alpha val="5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1" name="AutoShape 11"/>
          <p:cNvSpPr/>
          <p:nvPr/>
        </p:nvSpPr>
        <p:spPr>
          <a:xfrm>
            <a:off x="5588000" y="5016500"/>
            <a:ext cx="6096000" cy="6731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04</a:t>
            </a:r>
            <a:r>
              <a:rPr lang="en-US" sz="25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 总结与启示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11264900" y="330200"/>
            <a:ext cx="762000" cy="190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报告目录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406400" y="317500"/>
            <a:ext cx="762000" cy="190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防灾减灾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1130300" y="317500"/>
            <a:ext cx="762000" cy="190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应急科技</a:t>
            </a:r>
            <a:endParaRPr lang="en-US" sz="1100"/>
          </a:p>
        </p:txBody>
      </p:sp>
      <p:cxnSp>
        <p:nvCxnSpPr>
          <p:cNvPr id="15" name="Connector 15"/>
          <p:cNvCxnSpPr/>
          <p:nvPr/>
        </p:nvCxnSpPr>
        <p:spPr>
          <a:xfrm rot="5019588">
            <a:off x="971550" y="419452"/>
            <a:ext cx="1143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C5C7C8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rcRect l="10648" r="8449"/>
          <a:stretch>
            <a:fillRect/>
          </a:stretch>
        </p:blipFill>
        <p:spPr>
          <a:xfrm>
            <a:off x="0" y="0"/>
            <a:ext cx="8877300" cy="6858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406400" y="5664200"/>
            <a:ext cx="6763385" cy="8763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45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01 灾情概况与应急响应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 rot="10800000">
            <a:off x="7912100" y="0"/>
            <a:ext cx="4279900" cy="6858000"/>
          </a:xfrm>
          <a:prstGeom prst="roundRect">
            <a:avLst>
              <a:gd name="adj" fmla="val 0"/>
            </a:avLst>
          </a:prstGeom>
          <a:solidFill>
            <a:srgbClr val="00000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419100" y="5143500"/>
            <a:ext cx="7353300" cy="647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本次强降雨为历史罕见级别，小时降雨量峰值突破全国纪录，引发堤坝溃口、房屋损毁等险情。政府第一时间启动最高级别应急响应，统筹各方力量开展抢险救援，全力保障人民群众生命财产安全。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8216900" y="1028700"/>
            <a:ext cx="3556000" cy="1155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灾情背景综述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2026年9月初，受台风“沙德尔”残余环流与西南季风共同影响，福建莆田遭遇历史罕见的持续性强降雨，小时降水量峰值刷新全国纪录，引发严重洪涝灾害，对当地民生、住房及基础设施造成重大冲击。</a:t>
            </a:r>
            <a:endParaRPr lang="en-US" sz="1200" b="0" i="0" u="none" strike="noStrike">
              <a:solidFill>
                <a:srgbClr val="FFFFFF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7" name="AutoShape 7"/>
          <p:cNvSpPr/>
          <p:nvPr/>
        </p:nvSpPr>
        <p:spPr>
          <a:xfrm>
            <a:off x="8216900" y="5981700"/>
            <a:ext cx="3556000" cy="609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面对突发灾情，当地迅速集结救援力量转移受困群众，同步开展灾后抢修与民生保障工作，全力恢复正常生产生活秩序。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8216900" y="2578100"/>
            <a:ext cx="1739900" cy="901700"/>
          </a:xfrm>
          <a:prstGeom prst="roundRect">
            <a:avLst>
              <a:gd name="adj" fmla="val 7042"/>
            </a:avLst>
          </a:prstGeom>
          <a:solidFill>
            <a:srgbClr val="8A8D98">
              <a:alpha val="31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sp>
        <p:nvSpPr>
          <p:cNvPr id="9" name="AutoShape 9"/>
          <p:cNvSpPr/>
          <p:nvPr/>
        </p:nvSpPr>
        <p:spPr>
          <a:xfrm>
            <a:off x="10033000" y="2578100"/>
            <a:ext cx="1739900" cy="901700"/>
          </a:xfrm>
          <a:prstGeom prst="roundRect">
            <a:avLst>
              <a:gd name="adj" fmla="val 7042"/>
            </a:avLst>
          </a:prstGeom>
          <a:solidFill>
            <a:srgbClr val="8A8D98">
              <a:alpha val="31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sp>
        <p:nvSpPr>
          <p:cNvPr id="10" name="AutoShape 10"/>
          <p:cNvSpPr/>
          <p:nvPr/>
        </p:nvSpPr>
        <p:spPr>
          <a:xfrm>
            <a:off x="10033000" y="3543300"/>
            <a:ext cx="1739900" cy="901700"/>
          </a:xfrm>
          <a:prstGeom prst="roundRect">
            <a:avLst>
              <a:gd name="adj" fmla="val 7042"/>
            </a:avLst>
          </a:prstGeom>
          <a:solidFill>
            <a:srgbClr val="8A8D98">
              <a:alpha val="31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sp>
        <p:nvSpPr>
          <p:cNvPr id="11" name="AutoShape 11"/>
          <p:cNvSpPr/>
          <p:nvPr/>
        </p:nvSpPr>
        <p:spPr>
          <a:xfrm>
            <a:off x="8407400" y="2717800"/>
            <a:ext cx="13716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灾害成因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000" b="0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台风残余环流与西南季风叠加，形成持续性强降雨天气系统。</a:t>
            </a:r>
            <a:endParaRPr lang="en-US" sz="1000" b="0" i="0" u="none" strike="noStrike">
              <a:solidFill>
                <a:srgbClr val="FFFFFF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12" name="AutoShape 12"/>
          <p:cNvSpPr/>
          <p:nvPr/>
        </p:nvSpPr>
        <p:spPr>
          <a:xfrm>
            <a:off x="10223500" y="2717800"/>
            <a:ext cx="13716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降雨强度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000" b="0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莆田站点小时降水量达174.7毫米，位居全国首位。</a:t>
            </a:r>
            <a:endParaRPr lang="en-US" sz="1000" b="0" i="0" u="none" strike="noStrike">
              <a:solidFill>
                <a:srgbClr val="FFFFFF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13" name="AutoShape 13"/>
          <p:cNvSpPr/>
          <p:nvPr/>
        </p:nvSpPr>
        <p:spPr>
          <a:xfrm>
            <a:off x="8216900" y="3543300"/>
            <a:ext cx="1739900" cy="901700"/>
          </a:xfrm>
          <a:prstGeom prst="roundRect">
            <a:avLst>
              <a:gd name="adj" fmla="val 7042"/>
            </a:avLst>
          </a:prstGeom>
          <a:solidFill>
            <a:srgbClr val="8A8D98">
              <a:alpha val="31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sp>
        <p:nvSpPr>
          <p:cNvPr id="14" name="AutoShape 14"/>
          <p:cNvSpPr/>
          <p:nvPr/>
        </p:nvSpPr>
        <p:spPr>
          <a:xfrm>
            <a:off x="8407400" y="3683000"/>
            <a:ext cx="13716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主要灾情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000" b="0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出现堤坝溃口、房屋损毁、人员受困，基础设施严重受损。</a:t>
            </a:r>
            <a:endParaRPr lang="en-US" sz="1000" b="0" i="0" u="none" strike="noStrike">
              <a:solidFill>
                <a:srgbClr val="FFFFFF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15" name="AutoShape 15"/>
          <p:cNvSpPr/>
          <p:nvPr/>
        </p:nvSpPr>
        <p:spPr>
          <a:xfrm>
            <a:off x="10223500" y="3683000"/>
            <a:ext cx="13716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应急响应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000" b="0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启动最高级别暴雨预警，实行“三停一休”紧急避险措施。</a:t>
            </a:r>
            <a:endParaRPr lang="en-US" sz="1000" b="0" i="0" u="none" strike="noStrike">
              <a:solidFill>
                <a:srgbClr val="FFFFFF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16" name="AutoShape 16"/>
          <p:cNvSpPr/>
          <p:nvPr/>
        </p:nvSpPr>
        <p:spPr>
          <a:xfrm>
            <a:off x="406400" y="330200"/>
            <a:ext cx="571500" cy="266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防汛救灾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1130300" y="330200"/>
            <a:ext cx="571500" cy="266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莆田灾情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11264900" y="330200"/>
            <a:ext cx="584200" cy="190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应急通报</a:t>
            </a:r>
            <a:endParaRPr lang="en-US" sz="1100"/>
          </a:p>
        </p:txBody>
      </p:sp>
      <p:cxnSp>
        <p:nvCxnSpPr>
          <p:cNvPr id="19" name="Connector 19"/>
          <p:cNvCxnSpPr/>
          <p:nvPr/>
        </p:nvCxnSpPr>
        <p:spPr>
          <a:xfrm rot="5019588">
            <a:off x="971550" y="419452"/>
            <a:ext cx="1143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C5C7C8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 rot="5400000" flipV="1">
            <a:off x="2654300" y="-2679700"/>
            <a:ext cx="6921500" cy="12255500"/>
          </a:xfrm>
          <a:prstGeom prst="roundRect">
            <a:avLst>
              <a:gd name="adj" fmla="val 0"/>
            </a:avLst>
          </a:prstGeom>
          <a:gradFill rotWithShape="1">
            <a:gsLst>
              <a:gs pos="0">
                <a:srgbClr val="141412">
                  <a:alpha val="100000"/>
                </a:srgbClr>
              </a:gs>
              <a:gs pos="53000">
                <a:srgbClr val="131518">
                  <a:alpha val="100000"/>
                </a:srgbClr>
              </a:gs>
              <a:gs pos="78000">
                <a:srgbClr val="111734">
                  <a:alpha val="100000"/>
                </a:srgbClr>
              </a:gs>
              <a:gs pos="90000">
                <a:srgbClr val="0F1E51">
                  <a:alpha val="100000"/>
                </a:srgbClr>
              </a:gs>
              <a:gs pos="100000">
                <a:srgbClr val="031968">
                  <a:alpha val="100000"/>
                </a:srgbClr>
              </a:gs>
            </a:gsLst>
            <a:lin ang="0"/>
          </a:gra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406400" y="330200"/>
            <a:ext cx="762000" cy="266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灾害直击</a:t>
            </a:r>
            <a:endParaRPr lang="en-US" sz="1100"/>
          </a:p>
        </p:txBody>
      </p:sp>
      <p:cxnSp>
        <p:nvCxnSpPr>
          <p:cNvPr id="4" name="Connector 4"/>
          <p:cNvCxnSpPr/>
          <p:nvPr/>
        </p:nvCxnSpPr>
        <p:spPr>
          <a:xfrm rot="5019588">
            <a:off x="971550" y="419452"/>
            <a:ext cx="1143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C5C7C8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" name="AutoShape 5"/>
          <p:cNvSpPr/>
          <p:nvPr/>
        </p:nvSpPr>
        <p:spPr>
          <a:xfrm>
            <a:off x="1130300" y="330200"/>
            <a:ext cx="1016000" cy="266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福建莆田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11264900" y="330200"/>
            <a:ext cx="762000" cy="190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2026.09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406400" y="1270000"/>
            <a:ext cx="5384800" cy="1663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8000" b="1" i="0" u="none" strike="noStrike">
                <a:solidFill>
                  <a:srgbClr val="FFFFFF"/>
                </a:solidFill>
                <a:latin typeface="ChillDuanSans WideSemiBold"/>
                <a:ea typeface="ChillDuanSans WideSemiBold"/>
                <a:cs typeface="ChillDuanSans WideSemiBold"/>
                <a:sym typeface="ChillDuanSans WideSemiBold"/>
              </a:rPr>
              <a:t>174.7mm</a:t>
            </a:r>
            <a:endParaRPr lang="en-US" sz="1100"/>
          </a:p>
        </p:txBody>
      </p:sp>
      <p:cxnSp>
        <p:nvCxnSpPr>
          <p:cNvPr id="8" name="Connector 8"/>
          <p:cNvCxnSpPr/>
          <p:nvPr/>
        </p:nvCxnSpPr>
        <p:spPr>
          <a:xfrm rot="-3849">
            <a:off x="406404" y="3422650"/>
            <a:ext cx="11341192" cy="12700"/>
          </a:xfrm>
          <a:prstGeom prst="straightConnector1">
            <a:avLst/>
          </a:prstGeom>
          <a:solidFill>
            <a:srgbClr val="DEE0E3">
              <a:alpha val="50000"/>
            </a:srgbClr>
          </a:solidFill>
          <a:ln w="12700" cap="flat" cmpd="sng">
            <a:solidFill>
              <a:srgbClr val="FFFFFF">
                <a:alpha val="5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9" name="AutoShape 9"/>
          <p:cNvSpPr/>
          <p:nvPr/>
        </p:nvSpPr>
        <p:spPr>
          <a:xfrm>
            <a:off x="406400" y="3733800"/>
            <a:ext cx="2997200" cy="8763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45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极端降雨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406400" y="4927600"/>
            <a:ext cx="4851400" cy="1320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2026年9月1日起，受第18号台风“沙德尔”残余环流与西南季风共同影响，福建省莆田市遭遇历史罕见的持续强降雨。此次降雨强度突破历史极值，引发了严重的洪涝灾害，对当地居民生活和城市设施造成重大冲击。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5842000" y="1397000"/>
            <a:ext cx="55880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灾情影响与损失</a:t>
            </a:r>
            <a:endParaRPr lang="en-US" sz="1100"/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1"/>
          <a:srcRect t="31582" b="31582"/>
          <a:stretch>
            <a:fillRect/>
          </a:stretch>
        </p:blipFill>
        <p:spPr>
          <a:xfrm>
            <a:off x="5969000" y="2032000"/>
            <a:ext cx="5334000" cy="1905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13" name="AutoShape 13"/>
          <p:cNvSpPr/>
          <p:nvPr/>
        </p:nvSpPr>
        <p:spPr>
          <a:xfrm>
            <a:off x="5969000" y="3911600"/>
            <a:ext cx="5334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C8C8C8"/>
                </a:solidFill>
                <a:latin typeface="Noto Sans SC"/>
                <a:ea typeface="Noto Sans SC"/>
                <a:cs typeface="Noto Sans SC"/>
                <a:sym typeface="Noto Sans SC"/>
              </a:rPr>
              <a:t>超强台风沙德尔卫星云图 | 来源：中央气象台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5969000" y="4254500"/>
            <a:ext cx="5334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灾害连锁冲击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5969000" y="5016500"/>
            <a:ext cx="2540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00" b="1" i="0" u="none" strike="noStrike">
                <a:solidFill>
                  <a:srgbClr val="64B4FF"/>
                </a:solidFill>
                <a:latin typeface="Noto Sans SC"/>
                <a:ea typeface="Noto Sans SC"/>
                <a:cs typeface="Noto Sans SC"/>
                <a:sym typeface="Noto Sans SC"/>
              </a:rPr>
              <a:t>● 堤坝溃口：</a:t>
            </a:r>
            <a:r>
              <a:rPr lang="en-US" sz="1100" b="0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 </a:t>
            </a:r>
            <a:r>
              <a:rPr lang="en-US" sz="1100" b="0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城厢区华亭镇西湖村附近堤坝出现漫堤溃口，河水倒灌严重。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8763000" y="5016500"/>
            <a:ext cx="2540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00" b="1" i="0" u="none" strike="noStrike">
                <a:solidFill>
                  <a:srgbClr val="64B4FF"/>
                </a:solidFill>
                <a:latin typeface="Noto Sans SC"/>
                <a:ea typeface="Noto Sans SC"/>
                <a:cs typeface="Noto Sans SC"/>
                <a:sym typeface="Noto Sans SC"/>
              </a:rPr>
              <a:t>● 房屋损毁：</a:t>
            </a:r>
            <a:r>
              <a:rPr lang="en-US" sz="1100" b="0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 </a:t>
            </a:r>
            <a:r>
              <a:rPr lang="en-US" sz="1100" b="0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华亭镇超100间房屋倒塌，大量民房被洪水浸泡损毁。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5969000" y="5969000"/>
            <a:ext cx="2540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00" b="1" i="0" u="none" strike="noStrike">
                <a:solidFill>
                  <a:srgbClr val="64B4FF"/>
                </a:solidFill>
                <a:latin typeface="Noto Sans SC"/>
                <a:ea typeface="Noto Sans SC"/>
                <a:cs typeface="Noto Sans SC"/>
                <a:sym typeface="Noto Sans SC"/>
              </a:rPr>
              <a:t>● 人员受困：</a:t>
            </a:r>
            <a:r>
              <a:rPr lang="en-US" sz="1100" b="0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 </a:t>
            </a:r>
            <a:r>
              <a:rPr lang="en-US" sz="1100" b="0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洪水围困大量群众，部分区域通信中断，救援难度极大。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8763000" y="5969000"/>
            <a:ext cx="2540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00" b="1" i="0" u="none" strike="noStrike">
                <a:solidFill>
                  <a:srgbClr val="64B4FF"/>
                </a:solidFill>
                <a:latin typeface="Noto Sans SC"/>
                <a:ea typeface="Noto Sans SC"/>
                <a:cs typeface="Noto Sans SC"/>
                <a:sym typeface="Noto Sans SC"/>
              </a:rPr>
              <a:t>● 基建瘫痪：</a:t>
            </a:r>
            <a:r>
              <a:rPr lang="en-US" sz="1100" b="0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 </a:t>
            </a:r>
            <a:r>
              <a:rPr lang="en-US" sz="1100" b="0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城市内涝严重，交通全面停运，电力及供水设施受损。</a:t>
            </a:r>
            <a:endParaRPr lang="en-US" sz="11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utoShape 4"/>
          <p:cNvSpPr/>
          <p:nvPr/>
        </p:nvSpPr>
        <p:spPr>
          <a:xfrm rot="10800000">
            <a:off x="7772400" y="0"/>
            <a:ext cx="4546600" cy="6858635"/>
          </a:xfrm>
          <a:prstGeom prst="roundRect">
            <a:avLst>
              <a:gd name="adj" fmla="val 0"/>
            </a:avLst>
          </a:prstGeom>
          <a:solidFill>
            <a:srgbClr val="00000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sp>
        <p:nvSpPr>
          <p:cNvPr id="20" name="AutoShape 4"/>
          <p:cNvSpPr/>
          <p:nvPr/>
        </p:nvSpPr>
        <p:spPr>
          <a:xfrm rot="10800000">
            <a:off x="8039100" y="127000"/>
            <a:ext cx="4279900" cy="5791200"/>
          </a:xfrm>
          <a:prstGeom prst="roundRect">
            <a:avLst>
              <a:gd name="adj" fmla="val 0"/>
            </a:avLst>
          </a:prstGeom>
          <a:solidFill>
            <a:srgbClr val="00000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rcRect l="10648" r="8449"/>
          <a:stretch>
            <a:fillRect/>
          </a:stretch>
        </p:blipFill>
        <p:spPr>
          <a:xfrm>
            <a:off x="0" y="0"/>
            <a:ext cx="8877300" cy="6858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406400" y="5664200"/>
            <a:ext cx="10170160" cy="8763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45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02 现代科技在救援中的核心应用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419100" y="5143500"/>
            <a:ext cx="7353300" cy="647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科技成为突破障碍、实施救援的关键力量，从空中侦察到地面保障，全方位提升应急响应效率与生命救援成功率，为灾后重建与生命守护提供坚实支撑。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8216900" y="1028700"/>
            <a:ext cx="3556000" cy="1155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科技赋能应急救援新范式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在突发灾害与紧急救援场景中，前沿科技正成为破局的关键力量。通过智能化设备与系统化保障体系，突破地理环境与通讯中断的限制，构建起立体化的应急救援网络，为生命安全筑牢防线，让救援行动更精准、更高效。</a:t>
            </a:r>
            <a:endParaRPr lang="en-US" sz="1200" b="0" i="0" u="none" strike="noStrike">
              <a:solidFill>
                <a:srgbClr val="FFFFFF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7" name="AutoShape 7"/>
          <p:cNvSpPr/>
          <p:nvPr/>
        </p:nvSpPr>
        <p:spPr>
          <a:xfrm>
            <a:off x="8216900" y="5054600"/>
            <a:ext cx="3556000" cy="609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这些科技应用共同构筑起现代化救援的坚实基础，为应对各类突发状况提供强有力的技术支撑，守护生命与家园安全。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8216900" y="2578100"/>
            <a:ext cx="1739900" cy="901700"/>
          </a:xfrm>
          <a:prstGeom prst="roundRect">
            <a:avLst>
              <a:gd name="adj" fmla="val 7042"/>
            </a:avLst>
          </a:prstGeom>
          <a:solidFill>
            <a:srgbClr val="8A8D98">
              <a:alpha val="31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sp>
        <p:nvSpPr>
          <p:cNvPr id="9" name="AutoShape 9"/>
          <p:cNvSpPr/>
          <p:nvPr/>
        </p:nvSpPr>
        <p:spPr>
          <a:xfrm>
            <a:off x="10033000" y="2578100"/>
            <a:ext cx="1739900" cy="901700"/>
          </a:xfrm>
          <a:prstGeom prst="roundRect">
            <a:avLst>
              <a:gd name="adj" fmla="val 7042"/>
            </a:avLst>
          </a:prstGeom>
          <a:solidFill>
            <a:srgbClr val="8A8D98">
              <a:alpha val="31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sp>
        <p:nvSpPr>
          <p:cNvPr id="10" name="AutoShape 10"/>
          <p:cNvSpPr/>
          <p:nvPr/>
        </p:nvSpPr>
        <p:spPr>
          <a:xfrm>
            <a:off x="10033000" y="3543300"/>
            <a:ext cx="1739900" cy="901700"/>
          </a:xfrm>
          <a:prstGeom prst="roundRect">
            <a:avLst>
              <a:gd name="adj" fmla="val 7042"/>
            </a:avLst>
          </a:prstGeom>
          <a:solidFill>
            <a:srgbClr val="8A8D98">
              <a:alpha val="31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sp>
        <p:nvSpPr>
          <p:cNvPr id="11" name="AutoShape 11"/>
          <p:cNvSpPr/>
          <p:nvPr/>
        </p:nvSpPr>
        <p:spPr>
          <a:xfrm>
            <a:off x="8407400" y="2717800"/>
            <a:ext cx="13716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空中之眼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000" b="0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无人机打通补给线，精准侦察灾情与投送物资。</a:t>
            </a:r>
            <a:endParaRPr lang="en-US" sz="1000" b="0" i="0" u="none" strike="noStrike">
              <a:solidFill>
                <a:srgbClr val="FFFFFF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12" name="AutoShape 12"/>
          <p:cNvSpPr/>
          <p:nvPr/>
        </p:nvSpPr>
        <p:spPr>
          <a:xfrm>
            <a:off x="10223500" y="2717800"/>
            <a:ext cx="13716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城市之肺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000" b="0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大型排涝泵站极速排水，快速恢复城市运转功能。</a:t>
            </a:r>
            <a:endParaRPr lang="en-US" sz="1000" b="0" i="0" u="none" strike="noStrike">
              <a:solidFill>
                <a:srgbClr val="FFFFFF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13" name="AutoShape 13"/>
          <p:cNvSpPr/>
          <p:nvPr/>
        </p:nvSpPr>
        <p:spPr>
          <a:xfrm>
            <a:off x="8216900" y="3543300"/>
            <a:ext cx="1739900" cy="901700"/>
          </a:xfrm>
          <a:prstGeom prst="roundRect">
            <a:avLst>
              <a:gd name="adj" fmla="val 7042"/>
            </a:avLst>
          </a:prstGeom>
          <a:solidFill>
            <a:srgbClr val="8A8D98">
              <a:alpha val="31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sp>
        <p:nvSpPr>
          <p:cNvPr id="14" name="AutoShape 14"/>
          <p:cNvSpPr/>
          <p:nvPr/>
        </p:nvSpPr>
        <p:spPr>
          <a:xfrm>
            <a:off x="8407400" y="3683000"/>
            <a:ext cx="13716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信息神经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000" b="0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应急通信体系保障指挥调度，确保救援指令畅通。</a:t>
            </a:r>
            <a:endParaRPr lang="en-US" sz="1000" b="0" i="0" u="none" strike="noStrike">
              <a:solidFill>
                <a:srgbClr val="FFFFFF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15" name="AutoShape 15"/>
          <p:cNvSpPr/>
          <p:nvPr/>
        </p:nvSpPr>
        <p:spPr>
          <a:xfrm>
            <a:off x="10223500" y="3683000"/>
            <a:ext cx="13716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精准高效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000" b="0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科技赋能让救援更智能，显著提升救援效率与成功率。</a:t>
            </a:r>
            <a:endParaRPr lang="en-US" sz="1000" b="0" i="0" u="none" strike="noStrike">
              <a:solidFill>
                <a:srgbClr val="FFFFFF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16" name="AutoShape 16"/>
          <p:cNvSpPr/>
          <p:nvPr/>
        </p:nvSpPr>
        <p:spPr>
          <a:xfrm>
            <a:off x="406400" y="330200"/>
            <a:ext cx="571500" cy="266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救援科技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1130300" y="330200"/>
            <a:ext cx="571500" cy="266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核心应用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11264900" y="330200"/>
            <a:ext cx="584200" cy="190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应急指南</a:t>
            </a:r>
            <a:endParaRPr lang="en-US" sz="1100"/>
          </a:p>
        </p:txBody>
      </p:sp>
      <p:cxnSp>
        <p:nvCxnSpPr>
          <p:cNvPr id="19" name="Connector 19"/>
          <p:cNvCxnSpPr/>
          <p:nvPr/>
        </p:nvCxnSpPr>
        <p:spPr>
          <a:xfrm rot="5019588">
            <a:off x="971550" y="419452"/>
            <a:ext cx="1143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C5C7C8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rcRect l="10648" r="8449"/>
          <a:stretch>
            <a:fillRect/>
          </a:stretch>
        </p:blipFill>
        <p:spPr>
          <a:xfrm>
            <a:off x="0" y="0"/>
            <a:ext cx="8877300" cy="6858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406400" y="5334000"/>
            <a:ext cx="7366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6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严重灾情：堤坝溃口与房屋损毁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 rot="10800000">
            <a:off x="7912100" y="0"/>
            <a:ext cx="4279900" cy="6858000"/>
          </a:xfrm>
          <a:prstGeom prst="roundRect">
            <a:avLst>
              <a:gd name="adj" fmla="val 0"/>
            </a:avLst>
          </a:prstGeom>
          <a:solidFill>
            <a:srgbClr val="00000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406400" y="4699000"/>
            <a:ext cx="7366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FFFFFF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9月3日15时许，莆田市城厢区华亭镇西湖村附近堤坝漫堤溃口，河水倒灌淹没村庄与工业园区。灾害致华亭镇超百间房屋倒塌，荔城区西洙村亦有多栋房屋在洪水中坍塌损毁。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8216900" y="1028700"/>
            <a:ext cx="3556000" cy="1155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灾情现场直击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洪水从溃口处汹涌而出，瞬间吞噬周边区域，低洼地带迅速积水。房屋在洪水浸泡与冲击下结构受损，出现大面积倾斜、垮塌，现场满目疮痍，给当地群众生命财产安全造成严重威胁。</a:t>
            </a:r>
            <a:endParaRPr lang="en-US" sz="1200" b="0" i="0" u="none" strike="noStrike">
              <a:solidFill>
                <a:srgbClr val="FFFFFF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7" name="AutoShape 7"/>
          <p:cNvSpPr/>
          <p:nvPr/>
        </p:nvSpPr>
        <p:spPr>
          <a:xfrm>
            <a:off x="8216900" y="5981700"/>
            <a:ext cx="3556000" cy="609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目前救援力量已紧急集结，开展人员转移与抢险救灾工作，全力降低灾情带来的损失，保障受灾群众基本生活。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8216900" y="2578100"/>
            <a:ext cx="1739900" cy="901700"/>
          </a:xfrm>
          <a:prstGeom prst="roundRect">
            <a:avLst>
              <a:gd name="adj" fmla="val 7042"/>
            </a:avLst>
          </a:prstGeom>
          <a:solidFill>
            <a:srgbClr val="8A8D98">
              <a:alpha val="31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sp>
        <p:nvSpPr>
          <p:cNvPr id="9" name="AutoShape 9"/>
          <p:cNvSpPr/>
          <p:nvPr/>
        </p:nvSpPr>
        <p:spPr>
          <a:xfrm>
            <a:off x="10033000" y="2578100"/>
            <a:ext cx="1739900" cy="901700"/>
          </a:xfrm>
          <a:prstGeom prst="roundRect">
            <a:avLst>
              <a:gd name="adj" fmla="val 7042"/>
            </a:avLst>
          </a:prstGeom>
          <a:solidFill>
            <a:srgbClr val="8A8D98">
              <a:alpha val="31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sp>
        <p:nvSpPr>
          <p:cNvPr id="10" name="AutoShape 10"/>
          <p:cNvSpPr/>
          <p:nvPr/>
        </p:nvSpPr>
        <p:spPr>
          <a:xfrm>
            <a:off x="10033000" y="3543300"/>
            <a:ext cx="1739900" cy="901700"/>
          </a:xfrm>
          <a:prstGeom prst="roundRect">
            <a:avLst>
              <a:gd name="adj" fmla="val 7042"/>
            </a:avLst>
          </a:prstGeom>
          <a:solidFill>
            <a:srgbClr val="8A8D98">
              <a:alpha val="31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sp>
        <p:nvSpPr>
          <p:cNvPr id="11" name="AutoShape 11"/>
          <p:cNvSpPr/>
          <p:nvPr/>
        </p:nvSpPr>
        <p:spPr>
          <a:xfrm>
            <a:off x="8407400" y="2717800"/>
            <a:ext cx="13716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堤坝溃口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000" b="0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西湖村堤坝漫堤，洪水倒灌淹没周边区域。</a:t>
            </a:r>
            <a:endParaRPr lang="en-US" sz="1000" b="0" i="0" u="none" strike="noStrike">
              <a:solidFill>
                <a:srgbClr val="FFFFFF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12" name="AutoShape 12"/>
          <p:cNvSpPr/>
          <p:nvPr/>
        </p:nvSpPr>
        <p:spPr>
          <a:xfrm>
            <a:off x="10223500" y="2717800"/>
            <a:ext cx="13716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房屋损毁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000" b="0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超百间房屋倒塌，多栋建筑严重倾斜垮塌。</a:t>
            </a:r>
            <a:endParaRPr lang="en-US" sz="1000" b="0" i="0" u="none" strike="noStrike">
              <a:solidFill>
                <a:srgbClr val="FFFFFF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13" name="AutoShape 13"/>
          <p:cNvSpPr/>
          <p:nvPr/>
        </p:nvSpPr>
        <p:spPr>
          <a:xfrm>
            <a:off x="8216900" y="3543300"/>
            <a:ext cx="1739900" cy="901700"/>
          </a:xfrm>
          <a:prstGeom prst="roundRect">
            <a:avLst>
              <a:gd name="adj" fmla="val 7042"/>
            </a:avLst>
          </a:prstGeom>
          <a:solidFill>
            <a:srgbClr val="8A8D98">
              <a:alpha val="31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sp>
        <p:nvSpPr>
          <p:cNvPr id="14" name="AutoShape 14"/>
          <p:cNvSpPr/>
          <p:nvPr/>
        </p:nvSpPr>
        <p:spPr>
          <a:xfrm>
            <a:off x="8407400" y="3683000"/>
            <a:ext cx="13716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受灾范围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000" b="0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波及华亭镇、荔城区西洙村等多个区域。</a:t>
            </a:r>
            <a:endParaRPr lang="en-US" sz="1000" b="0" i="0" u="none" strike="noStrike">
              <a:solidFill>
                <a:srgbClr val="FFFFFF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15" name="AutoShape 15"/>
          <p:cNvSpPr/>
          <p:nvPr/>
        </p:nvSpPr>
        <p:spPr>
          <a:xfrm>
            <a:off x="10223500" y="3683000"/>
            <a:ext cx="13716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紧急响应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000" b="0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启动应急预案，转移安置受灾群众。</a:t>
            </a:r>
            <a:endParaRPr lang="en-US" sz="1000" b="0" i="0" u="none" strike="noStrike">
              <a:solidFill>
                <a:srgbClr val="FFFFFF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16" name="AutoShape 16"/>
          <p:cNvSpPr/>
          <p:nvPr/>
        </p:nvSpPr>
        <p:spPr>
          <a:xfrm>
            <a:off x="406400" y="330200"/>
            <a:ext cx="571500" cy="266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灾害直击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1130300" y="330200"/>
            <a:ext cx="571500" cy="266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莆田灾情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11264900" y="330200"/>
            <a:ext cx="584200" cy="190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现场实录</a:t>
            </a:r>
            <a:endParaRPr lang="en-US" sz="1100"/>
          </a:p>
        </p:txBody>
      </p:sp>
      <p:cxnSp>
        <p:nvCxnSpPr>
          <p:cNvPr id="19" name="Connector 19"/>
          <p:cNvCxnSpPr/>
          <p:nvPr/>
        </p:nvCxnSpPr>
        <p:spPr>
          <a:xfrm rot="5019588">
            <a:off x="971550" y="419452"/>
            <a:ext cx="1143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C5C7C8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0" name="AutoShape 20"/>
          <p:cNvSpPr/>
          <p:nvPr/>
        </p:nvSpPr>
        <p:spPr>
          <a:xfrm>
            <a:off x="406400" y="6032500"/>
            <a:ext cx="7366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FFFFFF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洪水从堤坝溃口处汹涌而出 | 来源：网络</a:t>
            </a:r>
            <a:endParaRPr lang="en-US" sz="1100"/>
          </a:p>
        </p:txBody>
      </p:sp>
      <p:sp>
        <p:nvSpPr>
          <p:cNvPr id="21" name="AutoShape 21"/>
          <p:cNvSpPr/>
          <p:nvPr/>
        </p:nvSpPr>
        <p:spPr>
          <a:xfrm>
            <a:off x="406400" y="6324600"/>
            <a:ext cx="7366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FFFFFF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房屋在洪水中严重倾斜倒塌 | 来源：网络</a:t>
            </a:r>
            <a:endParaRPr lang="en-US" sz="11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393700" y="647700"/>
            <a:ext cx="6350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4500" b="1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应急响应与措施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406400" y="317500"/>
            <a:ext cx="762000" cy="190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防灾减灾</a:t>
            </a:r>
            <a:endParaRPr lang="en-US" sz="1100"/>
          </a:p>
        </p:txBody>
      </p:sp>
      <p:cxnSp>
        <p:nvCxnSpPr>
          <p:cNvPr id="4" name="Connector 4"/>
          <p:cNvCxnSpPr/>
          <p:nvPr/>
        </p:nvCxnSpPr>
        <p:spPr>
          <a:xfrm rot="5019588">
            <a:off x="971550" y="419452"/>
            <a:ext cx="1143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C5C7C8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" name="AutoShape 5"/>
          <p:cNvSpPr/>
          <p:nvPr/>
        </p:nvSpPr>
        <p:spPr>
          <a:xfrm>
            <a:off x="1130300" y="317500"/>
            <a:ext cx="762000" cy="190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应急指挥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11264900" y="330200"/>
            <a:ext cx="762000" cy="190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响应指南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431800" y="1879600"/>
            <a:ext cx="1651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01 预警发布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2286000" y="1879600"/>
            <a:ext cx="5842000" cy="762000"/>
          </a:xfrm>
          <a:prstGeom prst="roundRect">
            <a:avLst/>
          </a:prstGeom>
          <a:solidFill>
            <a:srgbClr val="ECECEC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核心行动：</a:t>
            </a:r>
            <a:r>
              <a:rPr lang="en-US" sz="12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启动最高级别“暴雨红色预警（Ⅰ级）”，通过短信、广播、新媒体等渠道全网推送，覆盖城乡社区与重点单位。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431800" y="2921000"/>
            <a:ext cx="1651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02 三停一休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2286000" y="2921000"/>
            <a:ext cx="5842000" cy="762000"/>
          </a:xfrm>
          <a:prstGeom prst="roundRect">
            <a:avLst/>
          </a:prstGeom>
          <a:solidFill>
            <a:srgbClr val="ECECEC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强制措施：</a:t>
            </a:r>
            <a:r>
              <a:rPr lang="en-US" sz="12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全市范围内实行停工、停产、停课、休市措施，暂停各类聚集性活动，最大限度减少人员外出，阻断风险传播。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431800" y="4000500"/>
            <a:ext cx="1651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03 人员转移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2286000" y="4000500"/>
            <a:ext cx="5842000" cy="762000"/>
          </a:xfrm>
          <a:prstGeom prst="roundRect">
            <a:avLst/>
          </a:prstGeom>
          <a:solidFill>
            <a:srgbClr val="ECECEC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避险安置：</a:t>
            </a:r>
            <a:r>
              <a:rPr lang="en-US" sz="12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紧急动员基层力量，对低洼易涝区、地质灾害隐患点等危险区域群众进行网格化排查与有序转移，妥善安置至临时避难所。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431800" y="5080000"/>
            <a:ext cx="1651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04 全力救援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2286000" y="5080000"/>
            <a:ext cx="5842000" cy="762000"/>
          </a:xfrm>
          <a:prstGeom prst="roundRect">
            <a:avLst/>
          </a:prstGeom>
          <a:solidFill>
            <a:srgbClr val="ECECEC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多方联动：</a:t>
            </a:r>
            <a:r>
              <a:rPr lang="en-US" sz="12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武警、消防、应急及社会救援力量协同作战，动用冲锋舟、橡皮艇等装备深入积水区域，争分夺秒解救被困群众。</a:t>
            </a:r>
            <a:endParaRPr lang="en-US" sz="1100"/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>
          <a:blip r:embed="rId1"/>
          <a:srcRect l="27363" r="27363"/>
          <a:stretch>
            <a:fillRect/>
          </a:stretch>
        </p:blipFill>
        <p:spPr>
          <a:xfrm>
            <a:off x="8636000" y="1879600"/>
            <a:ext cx="2667000" cy="3937000"/>
          </a:xfrm>
          <a:prstGeom prst="roundRect">
            <a:avLst>
              <a:gd name="adj" fmla="val 5714"/>
            </a:avLst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16" name="AutoShape 16"/>
          <p:cNvSpPr/>
          <p:nvPr/>
        </p:nvSpPr>
        <p:spPr>
          <a:xfrm>
            <a:off x="8636000" y="5943600"/>
            <a:ext cx="2667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8A8F95"/>
                </a:solidFill>
                <a:latin typeface="Noto Sans SC"/>
                <a:ea typeface="Noto Sans SC"/>
                <a:cs typeface="Noto Sans SC"/>
                <a:sym typeface="Noto Sans SC"/>
              </a:rPr>
              <a:t>救援人员使用冲锋舟转移被困群众 | 来源：网络</a:t>
            </a:r>
            <a:endParaRPr lang="en-US" sz="11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 rot="5400000">
            <a:off x="965200" y="1727200"/>
            <a:ext cx="4152900" cy="6096000"/>
          </a:xfrm>
          <a:prstGeom prst="roundRect">
            <a:avLst>
              <a:gd name="adj" fmla="val 0"/>
            </a:avLst>
          </a:prstGeom>
          <a:solidFill>
            <a:srgbClr val="020E5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431800" y="381000"/>
            <a:ext cx="16637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应急救援应用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3136900" y="1435100"/>
            <a:ext cx="20828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algn="l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应用场景</a:t>
            </a:r>
            <a:endParaRPr lang="en-US" sz="1100"/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1"/>
          <a:srcRect l="24458" r="24458"/>
          <a:stretch>
            <a:fillRect/>
          </a:stretch>
        </p:blipFill>
        <p:spPr>
          <a:xfrm>
            <a:off x="6972300" y="1016000"/>
            <a:ext cx="4724400" cy="55499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cxnSp>
        <p:nvCxnSpPr>
          <p:cNvPr id="6" name="Connector 6"/>
          <p:cNvCxnSpPr/>
          <p:nvPr/>
        </p:nvCxnSpPr>
        <p:spPr>
          <a:xfrm rot="5393692">
            <a:off x="2635238" y="3454417"/>
            <a:ext cx="6921523" cy="12700"/>
          </a:xfrm>
          <a:prstGeom prst="straightConnector1">
            <a:avLst/>
          </a:prstGeom>
          <a:solidFill>
            <a:srgbClr val="DEE0E3">
              <a:alpha val="50000"/>
            </a:srgbClr>
          </a:solidFill>
          <a:ln w="12700" cap="flat" cmpd="sng">
            <a:solidFill>
              <a:srgbClr val="000000">
                <a:alpha val="5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7" name="AutoShape 7"/>
          <p:cNvSpPr/>
          <p:nvPr/>
        </p:nvSpPr>
        <p:spPr>
          <a:xfrm>
            <a:off x="431800" y="685800"/>
            <a:ext cx="47244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无人机作为空中应急支援的核心载体，突破地理障碍，在洪涝、地震等灾害现场承担侦察、投送与指挥辅助重任。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6438900" y="381000"/>
            <a:ext cx="10668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场景：灾害救援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0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角色：空中枢纽</a:t>
            </a:r>
            <a:endParaRPr lang="en-US" sz="1000" b="0" i="0" u="none" strike="noStrike">
              <a:solidFill>
                <a:srgbClr val="1F2329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9" name="AutoShape 9"/>
          <p:cNvSpPr/>
          <p:nvPr/>
        </p:nvSpPr>
        <p:spPr>
          <a:xfrm>
            <a:off x="431800" y="3467100"/>
            <a:ext cx="5118100" cy="7239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92000"/>
              </a:lnSpc>
              <a:defRPr/>
            </a:pPr>
            <a:r>
              <a:rPr lang="en-US" sz="45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空中之眼</a:t>
            </a:r>
            <a:endParaRPr lang="en-US" sz="1100"/>
          </a:p>
        </p:txBody>
      </p:sp>
      <p:cxnSp>
        <p:nvCxnSpPr>
          <p:cNvPr id="10" name="Connector 10"/>
          <p:cNvCxnSpPr/>
          <p:nvPr/>
        </p:nvCxnSpPr>
        <p:spPr>
          <a:xfrm rot="-8050">
            <a:off x="431807" y="4375150"/>
            <a:ext cx="5422930" cy="12700"/>
          </a:xfrm>
          <a:prstGeom prst="straightConnector1">
            <a:avLst/>
          </a:prstGeom>
          <a:solidFill>
            <a:srgbClr val="DEE0E3">
              <a:alpha val="50000"/>
            </a:srgbClr>
          </a:solidFill>
          <a:ln w="12700" cap="flat" cmpd="sng">
            <a:solidFill>
              <a:srgbClr val="FFFFFF">
                <a:alpha val="5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1" name="Connector 11"/>
          <p:cNvCxnSpPr/>
          <p:nvPr/>
        </p:nvCxnSpPr>
        <p:spPr>
          <a:xfrm rot="-8050">
            <a:off x="431807" y="4692650"/>
            <a:ext cx="5422930" cy="12700"/>
          </a:xfrm>
          <a:prstGeom prst="straightConnector1">
            <a:avLst/>
          </a:prstGeom>
          <a:solidFill>
            <a:srgbClr val="DEE0E3">
              <a:alpha val="50000"/>
            </a:srgbClr>
          </a:solidFill>
          <a:ln w="12700" cap="flat" cmpd="sng">
            <a:solidFill>
              <a:srgbClr val="FFFFFF">
                <a:alpha val="5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2" name="Connector 12"/>
          <p:cNvCxnSpPr/>
          <p:nvPr/>
        </p:nvCxnSpPr>
        <p:spPr>
          <a:xfrm rot="-8050">
            <a:off x="431807" y="4997450"/>
            <a:ext cx="5422930" cy="12700"/>
          </a:xfrm>
          <a:prstGeom prst="straightConnector1">
            <a:avLst/>
          </a:prstGeom>
          <a:solidFill>
            <a:srgbClr val="DEE0E3">
              <a:alpha val="50000"/>
            </a:srgbClr>
          </a:solidFill>
          <a:ln w="12700" cap="flat" cmpd="sng">
            <a:solidFill>
              <a:srgbClr val="FFFFFF">
                <a:alpha val="5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3" name="Connector 13"/>
          <p:cNvCxnSpPr/>
          <p:nvPr/>
        </p:nvCxnSpPr>
        <p:spPr>
          <a:xfrm rot="-8050">
            <a:off x="431807" y="5302250"/>
            <a:ext cx="5422930" cy="12700"/>
          </a:xfrm>
          <a:prstGeom prst="straightConnector1">
            <a:avLst/>
          </a:prstGeom>
          <a:solidFill>
            <a:srgbClr val="DEE0E3">
              <a:alpha val="50000"/>
            </a:srgbClr>
          </a:solidFill>
          <a:ln w="12700" cap="flat" cmpd="sng">
            <a:solidFill>
              <a:srgbClr val="FFFFFF">
                <a:alpha val="5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4" name="Connector 14"/>
          <p:cNvCxnSpPr/>
          <p:nvPr/>
        </p:nvCxnSpPr>
        <p:spPr>
          <a:xfrm rot="-8050">
            <a:off x="431807" y="5607050"/>
            <a:ext cx="5422930" cy="12700"/>
          </a:xfrm>
          <a:prstGeom prst="straightConnector1">
            <a:avLst/>
          </a:prstGeom>
          <a:solidFill>
            <a:srgbClr val="DEE0E3">
              <a:alpha val="50000"/>
            </a:srgbClr>
          </a:solidFill>
          <a:ln w="12700" cap="flat" cmpd="sng">
            <a:solidFill>
              <a:srgbClr val="FFFFFF">
                <a:alpha val="5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5" name="Connector 15"/>
          <p:cNvCxnSpPr/>
          <p:nvPr/>
        </p:nvCxnSpPr>
        <p:spPr>
          <a:xfrm rot="-8050">
            <a:off x="431807" y="5924550"/>
            <a:ext cx="5422930" cy="12700"/>
          </a:xfrm>
          <a:prstGeom prst="straightConnector1">
            <a:avLst/>
          </a:prstGeom>
          <a:solidFill>
            <a:srgbClr val="DEE0E3">
              <a:alpha val="50000"/>
            </a:srgbClr>
          </a:solidFill>
          <a:ln w="12700" cap="flat" cmpd="sng">
            <a:solidFill>
              <a:srgbClr val="FFFFFF">
                <a:alpha val="5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6" name="Connector 16"/>
          <p:cNvCxnSpPr/>
          <p:nvPr/>
        </p:nvCxnSpPr>
        <p:spPr>
          <a:xfrm rot="-8050">
            <a:off x="431807" y="6229350"/>
            <a:ext cx="5422930" cy="12700"/>
          </a:xfrm>
          <a:prstGeom prst="straightConnector1">
            <a:avLst/>
          </a:prstGeom>
          <a:solidFill>
            <a:srgbClr val="DEE0E3">
              <a:alpha val="50000"/>
            </a:srgbClr>
          </a:solidFill>
          <a:ln w="12700" cap="flat" cmpd="sng">
            <a:solidFill>
              <a:srgbClr val="FFFFFF">
                <a:alpha val="5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7" name="AutoShape 17"/>
          <p:cNvSpPr/>
          <p:nvPr/>
        </p:nvSpPr>
        <p:spPr>
          <a:xfrm>
            <a:off x="431800" y="4445000"/>
            <a:ext cx="8382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核心优势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1689100" y="4432300"/>
            <a:ext cx="2540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全地形高机动，无视道路损毁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5054600" y="4445000"/>
            <a:ext cx="762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★★★★★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431800" y="4749800"/>
            <a:ext cx="8382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精准投送</a:t>
            </a:r>
            <a:endParaRPr lang="en-US" sz="1100"/>
          </a:p>
        </p:txBody>
      </p:sp>
      <p:sp>
        <p:nvSpPr>
          <p:cNvPr id="21" name="AutoShape 21"/>
          <p:cNvSpPr/>
          <p:nvPr/>
        </p:nvSpPr>
        <p:spPr>
          <a:xfrm>
            <a:off x="1689100" y="4749800"/>
            <a:ext cx="2540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复杂环境悬停，物资精准送达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5054600" y="4749800"/>
            <a:ext cx="762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★★★★☆</a:t>
            </a:r>
            <a:endParaRPr lang="en-US" sz="1100"/>
          </a:p>
        </p:txBody>
      </p:sp>
      <p:sp>
        <p:nvSpPr>
          <p:cNvPr id="23" name="AutoShape 23"/>
          <p:cNvSpPr/>
          <p:nvPr/>
        </p:nvSpPr>
        <p:spPr>
          <a:xfrm>
            <a:off x="431800" y="5054600"/>
            <a:ext cx="8382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实时侦察</a:t>
            </a:r>
            <a:endParaRPr lang="en-US" sz="1100"/>
          </a:p>
        </p:txBody>
      </p:sp>
      <p:sp>
        <p:nvSpPr>
          <p:cNvPr id="24" name="AutoShape 24"/>
          <p:cNvSpPr/>
          <p:nvPr/>
        </p:nvSpPr>
        <p:spPr>
          <a:xfrm>
            <a:off x="1689100" y="5054600"/>
            <a:ext cx="2540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高清画面回传，辅助指挥决策</a:t>
            </a:r>
            <a:endParaRPr lang="en-US" sz="1100"/>
          </a:p>
        </p:txBody>
      </p:sp>
      <p:sp>
        <p:nvSpPr>
          <p:cNvPr id="25" name="AutoShape 25"/>
          <p:cNvSpPr/>
          <p:nvPr/>
        </p:nvSpPr>
        <p:spPr>
          <a:xfrm>
            <a:off x="5054600" y="5054600"/>
            <a:ext cx="762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★★★★★</a:t>
            </a:r>
            <a:endParaRPr lang="en-US" sz="1100"/>
          </a:p>
        </p:txBody>
      </p:sp>
      <p:sp>
        <p:nvSpPr>
          <p:cNvPr id="26" name="AutoShape 26"/>
          <p:cNvSpPr/>
          <p:nvPr/>
        </p:nvSpPr>
        <p:spPr>
          <a:xfrm>
            <a:off x="431800" y="5372100"/>
            <a:ext cx="8382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应急效率</a:t>
            </a:r>
            <a:endParaRPr lang="en-US" sz="1100"/>
          </a:p>
        </p:txBody>
      </p:sp>
      <p:sp>
        <p:nvSpPr>
          <p:cNvPr id="27" name="AutoShape 27"/>
          <p:cNvSpPr/>
          <p:nvPr/>
        </p:nvSpPr>
        <p:spPr>
          <a:xfrm>
            <a:off x="1689100" y="5372100"/>
            <a:ext cx="2540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快速响应，缩短救援黄金时间</a:t>
            </a:r>
            <a:endParaRPr lang="en-US" sz="1100"/>
          </a:p>
        </p:txBody>
      </p:sp>
      <p:sp>
        <p:nvSpPr>
          <p:cNvPr id="28" name="AutoShape 28"/>
          <p:cNvSpPr/>
          <p:nvPr/>
        </p:nvSpPr>
        <p:spPr>
          <a:xfrm>
            <a:off x="5054600" y="5372100"/>
            <a:ext cx="762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★★★★★</a:t>
            </a:r>
            <a:endParaRPr lang="en-US" sz="1100"/>
          </a:p>
        </p:txBody>
      </p:sp>
      <p:sp>
        <p:nvSpPr>
          <p:cNvPr id="29" name="AutoShape 29"/>
          <p:cNvSpPr/>
          <p:nvPr/>
        </p:nvSpPr>
        <p:spPr>
          <a:xfrm>
            <a:off x="431800" y="5676900"/>
            <a:ext cx="8382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物资搭载</a:t>
            </a:r>
            <a:endParaRPr lang="en-US" sz="1100"/>
          </a:p>
        </p:txBody>
      </p:sp>
      <p:sp>
        <p:nvSpPr>
          <p:cNvPr id="30" name="AutoShape 30"/>
          <p:cNvSpPr/>
          <p:nvPr/>
        </p:nvSpPr>
        <p:spPr>
          <a:xfrm>
            <a:off x="1689100" y="5676900"/>
            <a:ext cx="2540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食品/药品/通讯设备多类挂载</a:t>
            </a:r>
            <a:endParaRPr lang="en-US" sz="1100"/>
          </a:p>
        </p:txBody>
      </p:sp>
      <p:sp>
        <p:nvSpPr>
          <p:cNvPr id="31" name="AutoShape 31"/>
          <p:cNvSpPr/>
          <p:nvPr/>
        </p:nvSpPr>
        <p:spPr>
          <a:xfrm>
            <a:off x="5054600" y="5676900"/>
            <a:ext cx="762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★★★★☆</a:t>
            </a:r>
            <a:endParaRPr lang="en-US" sz="1100"/>
          </a:p>
        </p:txBody>
      </p:sp>
      <p:sp>
        <p:nvSpPr>
          <p:cNvPr id="32" name="AutoShape 32"/>
          <p:cNvSpPr/>
          <p:nvPr/>
        </p:nvSpPr>
        <p:spPr>
          <a:xfrm>
            <a:off x="431800" y="5981700"/>
            <a:ext cx="8382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环境适应</a:t>
            </a:r>
            <a:endParaRPr lang="en-US" sz="1100"/>
          </a:p>
        </p:txBody>
      </p:sp>
      <p:sp>
        <p:nvSpPr>
          <p:cNvPr id="33" name="AutoShape 33"/>
          <p:cNvSpPr/>
          <p:nvPr/>
        </p:nvSpPr>
        <p:spPr>
          <a:xfrm>
            <a:off x="1689100" y="5981700"/>
            <a:ext cx="2540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抗风雨干扰，复杂气候稳定运行</a:t>
            </a:r>
            <a:endParaRPr lang="en-US" sz="1100"/>
          </a:p>
        </p:txBody>
      </p:sp>
      <p:sp>
        <p:nvSpPr>
          <p:cNvPr id="34" name="AutoShape 34"/>
          <p:cNvSpPr/>
          <p:nvPr/>
        </p:nvSpPr>
        <p:spPr>
          <a:xfrm>
            <a:off x="5054600" y="5981700"/>
            <a:ext cx="762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★★★★☆</a:t>
            </a:r>
            <a:endParaRPr lang="en-US" sz="1100"/>
          </a:p>
        </p:txBody>
      </p:sp>
      <p:sp>
        <p:nvSpPr>
          <p:cNvPr id="35" name="AutoShape 35"/>
          <p:cNvSpPr/>
          <p:nvPr/>
        </p:nvSpPr>
        <p:spPr>
          <a:xfrm>
            <a:off x="431800" y="6299200"/>
            <a:ext cx="8382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指挥价值</a:t>
            </a:r>
            <a:endParaRPr lang="en-US" sz="1100"/>
          </a:p>
        </p:txBody>
      </p:sp>
      <p:sp>
        <p:nvSpPr>
          <p:cNvPr id="36" name="AutoShape 36"/>
          <p:cNvSpPr/>
          <p:nvPr/>
        </p:nvSpPr>
        <p:spPr>
          <a:xfrm>
            <a:off x="1689100" y="6299200"/>
            <a:ext cx="2540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提供一手情报，优化救援方案</a:t>
            </a:r>
            <a:endParaRPr lang="en-US" sz="1100"/>
          </a:p>
        </p:txBody>
      </p:sp>
      <p:sp>
        <p:nvSpPr>
          <p:cNvPr id="37" name="AutoShape 37"/>
          <p:cNvSpPr/>
          <p:nvPr/>
        </p:nvSpPr>
        <p:spPr>
          <a:xfrm>
            <a:off x="5054600" y="6299200"/>
            <a:ext cx="762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★★★★★</a:t>
            </a:r>
            <a:endParaRPr lang="en-US" sz="1100"/>
          </a:p>
        </p:txBody>
      </p:sp>
      <p:sp>
        <p:nvSpPr>
          <p:cNvPr id="38" name="AutoShape 38"/>
          <p:cNvSpPr/>
          <p:nvPr/>
        </p:nvSpPr>
        <p:spPr>
          <a:xfrm>
            <a:off x="3136900" y="1727200"/>
            <a:ext cx="2298700" cy="5969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algn="l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针对洪涝、地震等导致地面交通瘫痪的场景，无人机可快速抵达受灾区域，执行物资投送、灾情勘察等任务。</a:t>
            </a:r>
            <a:endParaRPr lang="en-US" sz="1100"/>
          </a:p>
        </p:txBody>
      </p:sp>
      <p:sp>
        <p:nvSpPr>
          <p:cNvPr id="39" name="AutoShape 39"/>
          <p:cNvSpPr/>
          <p:nvPr/>
        </p:nvSpPr>
        <p:spPr>
          <a:xfrm>
            <a:off x="431800" y="1435100"/>
            <a:ext cx="16637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algn="l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核心案例</a:t>
            </a:r>
            <a:endParaRPr lang="en-US" sz="1100"/>
          </a:p>
        </p:txBody>
      </p:sp>
      <p:sp>
        <p:nvSpPr>
          <p:cNvPr id="40" name="AutoShape 40"/>
          <p:cNvSpPr/>
          <p:nvPr/>
        </p:nvSpPr>
        <p:spPr>
          <a:xfrm>
            <a:off x="431800" y="1727200"/>
            <a:ext cx="2082800" cy="5969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algn="l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福州消防跨区域支援莆田，利用无人机向被困民房精准投送饮用水、食品等物资，打通救援“生命线”。</a:t>
            </a:r>
            <a:endParaRPr lang="en-US" sz="1100"/>
          </a:p>
        </p:txBody>
      </p:sp>
      <p:cxnSp>
        <p:nvCxnSpPr>
          <p:cNvPr id="41" name="Connector 41"/>
          <p:cNvCxnSpPr/>
          <p:nvPr/>
        </p:nvCxnSpPr>
        <p:spPr>
          <a:xfrm rot="5331281">
            <a:off x="2463673" y="1784540"/>
            <a:ext cx="635254" cy="12700"/>
          </a:xfrm>
          <a:prstGeom prst="straightConnector1">
            <a:avLst/>
          </a:prstGeom>
          <a:solidFill>
            <a:srgbClr val="DEE0E3">
              <a:alpha val="18000"/>
            </a:srgbClr>
          </a:solidFill>
          <a:ln w="12700" cap="flat" cmpd="sng">
            <a:solidFill>
              <a:srgbClr val="000000">
                <a:alpha val="18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2" name="AutoShape 42"/>
          <p:cNvSpPr/>
          <p:nvPr/>
        </p:nvSpPr>
        <p:spPr>
          <a:xfrm>
            <a:off x="6972300" y="6578600"/>
            <a:ext cx="47244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900" b="0" i="0" u="none" strike="noStrike">
                <a:solidFill>
                  <a:srgbClr val="646A73"/>
                </a:solidFill>
                <a:latin typeface="Noto Sans SC"/>
                <a:ea typeface="Noto Sans SC"/>
                <a:cs typeface="Noto Sans SC"/>
                <a:sym typeface="Noto Sans SC"/>
              </a:rPr>
              <a:t>无人机向被困人员投送救援物资 | 来源：网络</a:t>
            </a:r>
            <a:endParaRPr lang="en-US" sz="11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8343900" y="1435100"/>
            <a:ext cx="10922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启用设施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406400" y="889000"/>
            <a:ext cx="3606800" cy="154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4500" b="1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城市之肺：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4500" b="1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大型排涝泵站</a:t>
            </a:r>
            <a:endParaRPr lang="en-US" sz="4500" b="1" i="0" u="none" strike="noStrike">
              <a:solidFill>
                <a:srgbClr val="1F2329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4" name="AutoShape 4"/>
          <p:cNvSpPr/>
          <p:nvPr/>
        </p:nvSpPr>
        <p:spPr>
          <a:xfrm>
            <a:off x="3556000" y="5232400"/>
            <a:ext cx="42545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华林排涝泵站排涝作业现场 | 来源：福建日报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406400" y="5461000"/>
            <a:ext cx="2794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面对突发强降雨，莆田城厢区双泵站联排联调成为城市防涝的核心防线。通过科学调度与多部门协同，实现积水快速消退，为城市恢复争取了宝贵时间，彰显了现代化水利设施的应急效能。</a:t>
            </a:r>
            <a:endParaRPr lang="en-US" sz="1100"/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1"/>
          <a:srcRect t="278" b="278"/>
          <a:stretch>
            <a:fillRect/>
          </a:stretch>
        </p:blipFill>
        <p:spPr>
          <a:xfrm>
            <a:off x="3556000" y="2032000"/>
            <a:ext cx="4254500" cy="3175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cxnSp>
        <p:nvCxnSpPr>
          <p:cNvPr id="7" name="Connector 7"/>
          <p:cNvCxnSpPr/>
          <p:nvPr/>
        </p:nvCxnSpPr>
        <p:spPr>
          <a:xfrm rot="-10261">
            <a:off x="7518409" y="1733550"/>
            <a:ext cx="4254519" cy="12700"/>
          </a:xfrm>
          <a:prstGeom prst="straightConnector1">
            <a:avLst/>
          </a:prstGeom>
          <a:solidFill>
            <a:srgbClr val="DEE0E3">
              <a:alpha val="50000"/>
            </a:srgbClr>
          </a:solidFill>
          <a:ln w="12700" cap="flat" cmpd="sng">
            <a:solidFill>
              <a:srgbClr val="2B2F36">
                <a:alpha val="5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8" name="Connector 8"/>
          <p:cNvCxnSpPr/>
          <p:nvPr/>
        </p:nvCxnSpPr>
        <p:spPr>
          <a:xfrm rot="-9444">
            <a:off x="7150109" y="2736850"/>
            <a:ext cx="4622817" cy="12700"/>
          </a:xfrm>
          <a:prstGeom prst="straightConnector1">
            <a:avLst/>
          </a:prstGeom>
          <a:solidFill>
            <a:srgbClr val="DEE0E3">
              <a:alpha val="50000"/>
            </a:srgbClr>
          </a:solidFill>
          <a:ln w="12700" cap="flat" cmpd="sng">
            <a:solidFill>
              <a:srgbClr val="2B2F36">
                <a:alpha val="5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9" name="Connector 9"/>
          <p:cNvCxnSpPr/>
          <p:nvPr/>
        </p:nvCxnSpPr>
        <p:spPr>
          <a:xfrm rot="-10261">
            <a:off x="7518409" y="3752850"/>
            <a:ext cx="4254519" cy="12700"/>
          </a:xfrm>
          <a:prstGeom prst="straightConnector1">
            <a:avLst/>
          </a:prstGeom>
          <a:solidFill>
            <a:srgbClr val="DEE0E3">
              <a:alpha val="50000"/>
            </a:srgbClr>
          </a:solidFill>
          <a:ln w="12700" cap="flat" cmpd="sng">
            <a:solidFill>
              <a:srgbClr val="2B2F36">
                <a:alpha val="5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0" name="Connector 10"/>
          <p:cNvCxnSpPr/>
          <p:nvPr/>
        </p:nvCxnSpPr>
        <p:spPr>
          <a:xfrm rot="-10844">
            <a:off x="7747010" y="4781550"/>
            <a:ext cx="4025920" cy="12700"/>
          </a:xfrm>
          <a:prstGeom prst="straightConnector1">
            <a:avLst/>
          </a:prstGeom>
          <a:solidFill>
            <a:srgbClr val="DEE0E3">
              <a:alpha val="50000"/>
            </a:srgbClr>
          </a:solidFill>
          <a:ln w="12700" cap="flat" cmpd="sng">
            <a:solidFill>
              <a:srgbClr val="2B2F36">
                <a:alpha val="5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1" name="AutoShape 11"/>
          <p:cNvSpPr/>
          <p:nvPr/>
        </p:nvSpPr>
        <p:spPr>
          <a:xfrm>
            <a:off x="8343900" y="2425700"/>
            <a:ext cx="10922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科学调度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8343900" y="3467100"/>
            <a:ext cx="10922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协同作战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8343900" y="4483100"/>
            <a:ext cx="10922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显著成效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9639300" y="1765300"/>
            <a:ext cx="21209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同步启用华林、霞林两座现代化排涝泵站，形成强大的抽排合力，直面城市内涝威胁。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9639300" y="2768600"/>
            <a:ext cx="21209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0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采用“高水高排”策略，精准抽排高地积水，避免水位叠加，最大化发挥泵站效能。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9639300" y="3784600"/>
            <a:ext cx="21209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水利、市政多部门联动，先关闸防江水倒灌，再双站协同全力抽排，形成防汛闭环。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9639300" y="4813300"/>
            <a:ext cx="21209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河道水位快速回落，有效缓解城区内涝压力，保障市民出行与财产安全，恢复城市秩序。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10541000" y="5715000"/>
            <a:ext cx="1270000" cy="838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4400" b="1" i="0" u="none" strike="noStrike">
                <a:solidFill>
                  <a:srgbClr val="000000">
                    <a:alpha val="49804"/>
                  </a:srgbClr>
                </a:solidFill>
                <a:latin typeface="ChillDuanSans WideSemiBold"/>
                <a:ea typeface="ChillDuanSans WideSemiBold"/>
                <a:cs typeface="ChillDuanSans WideSemiBold"/>
                <a:sym typeface="ChillDuanSans WideSemiBold"/>
              </a:rPr>
              <a:t>高效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406400" y="3746500"/>
            <a:ext cx="1181100" cy="254000"/>
          </a:xfrm>
          <a:prstGeom prst="roundRect">
            <a:avLst/>
          </a:prstGeom>
          <a:solidFill>
            <a:srgbClr val="ECECEC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高水高排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406400" y="2997200"/>
            <a:ext cx="1181100" cy="254000"/>
          </a:xfrm>
          <a:prstGeom prst="roundRect">
            <a:avLst/>
          </a:prstGeom>
          <a:solidFill>
            <a:srgbClr val="ECECEC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华林泵站</a:t>
            </a:r>
            <a:endParaRPr lang="en-US" sz="1100"/>
          </a:p>
        </p:txBody>
      </p:sp>
      <p:sp>
        <p:nvSpPr>
          <p:cNvPr id="21" name="AutoShape 21"/>
          <p:cNvSpPr/>
          <p:nvPr/>
        </p:nvSpPr>
        <p:spPr>
          <a:xfrm>
            <a:off x="1714500" y="2997200"/>
            <a:ext cx="1181100" cy="254000"/>
          </a:xfrm>
          <a:prstGeom prst="roundRect">
            <a:avLst/>
          </a:prstGeom>
          <a:solidFill>
            <a:srgbClr val="ECECEC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霞林泵站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406400" y="3378200"/>
            <a:ext cx="1181100" cy="254000"/>
          </a:xfrm>
          <a:prstGeom prst="roundRect">
            <a:avLst/>
          </a:prstGeom>
          <a:solidFill>
            <a:srgbClr val="ECECEC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联排联调</a:t>
            </a:r>
            <a:endParaRPr lang="en-US" sz="1100"/>
          </a:p>
        </p:txBody>
      </p:sp>
      <p:sp>
        <p:nvSpPr>
          <p:cNvPr id="23" name="AutoShape 23"/>
          <p:cNvSpPr/>
          <p:nvPr/>
        </p:nvSpPr>
        <p:spPr>
          <a:xfrm>
            <a:off x="1714500" y="3378200"/>
            <a:ext cx="1181100" cy="254000"/>
          </a:xfrm>
          <a:prstGeom prst="roundRect">
            <a:avLst/>
          </a:prstGeom>
          <a:solidFill>
            <a:srgbClr val="ECECEC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防汛减灾</a:t>
            </a:r>
            <a:endParaRPr lang="en-US" sz="1100"/>
          </a:p>
        </p:txBody>
      </p:sp>
      <p:sp>
        <p:nvSpPr>
          <p:cNvPr id="24" name="AutoShape 24"/>
          <p:cNvSpPr/>
          <p:nvPr/>
        </p:nvSpPr>
        <p:spPr>
          <a:xfrm>
            <a:off x="11264900" y="330200"/>
            <a:ext cx="762000" cy="190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防汛纪实</a:t>
            </a:r>
            <a:endParaRPr lang="en-US" sz="1100"/>
          </a:p>
        </p:txBody>
      </p:sp>
      <p:sp>
        <p:nvSpPr>
          <p:cNvPr id="25" name="AutoShape 25"/>
          <p:cNvSpPr/>
          <p:nvPr/>
        </p:nvSpPr>
        <p:spPr>
          <a:xfrm>
            <a:off x="406400" y="317500"/>
            <a:ext cx="762000" cy="190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应急排涝</a:t>
            </a:r>
            <a:endParaRPr lang="en-US" sz="1100"/>
          </a:p>
        </p:txBody>
      </p:sp>
      <p:sp>
        <p:nvSpPr>
          <p:cNvPr id="26" name="AutoShape 26"/>
          <p:cNvSpPr/>
          <p:nvPr/>
        </p:nvSpPr>
        <p:spPr>
          <a:xfrm>
            <a:off x="1130300" y="317500"/>
            <a:ext cx="762000" cy="190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莆田案例</a:t>
            </a:r>
            <a:endParaRPr lang="en-US" sz="1100"/>
          </a:p>
        </p:txBody>
      </p:sp>
      <p:cxnSp>
        <p:nvCxnSpPr>
          <p:cNvPr id="27" name="Connector 27"/>
          <p:cNvCxnSpPr/>
          <p:nvPr/>
        </p:nvCxnSpPr>
        <p:spPr>
          <a:xfrm rot="5019588">
            <a:off x="971550" y="419452"/>
            <a:ext cx="1143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C5C7C8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rcRect l="7746" r="7746"/>
          <a:stretch>
            <a:fillRect/>
          </a:stretch>
        </p:blipFill>
        <p:spPr>
          <a:xfrm>
            <a:off x="0" y="0"/>
            <a:ext cx="88773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406400" y="5080000"/>
            <a:ext cx="6985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应急通信保障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406400" y="6286500"/>
            <a:ext cx="6985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FFFFFF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中国电信智能运营指挥调度中心 | 来源：今日头条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 rot="10800000">
            <a:off x="7912100" y="0"/>
            <a:ext cx="4279900" cy="6858000"/>
          </a:xfrm>
          <a:prstGeom prst="roundRect">
            <a:avLst>
              <a:gd name="adj" fmla="val 0"/>
            </a:avLst>
          </a:prstGeom>
          <a:solidFill>
            <a:srgbClr val="00000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406400" y="5778500"/>
            <a:ext cx="6985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FFFFFF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中国电信福建公司打响通信保卫战，依托智能运营指挥调度中心实时监控灾情，抢修人员逆水而上，全力保障受灾区域通信生命线畅通。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8216900" y="1028700"/>
            <a:ext cx="3556000" cy="1155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福建通信保卫战纪实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面对突发灾情，中国电信福建公司迅速启动应急响应机制。从智能调度中心的实时监控，到一线抢修队伍的逆水冲锋，全方位保障通信网络畅通，为抢险救灾提供坚实信息支撑。</a:t>
            </a:r>
            <a:endParaRPr lang="en-US" sz="1200" b="0" i="0" u="none" strike="noStrike">
              <a:solidFill>
                <a:srgbClr val="FFFFFF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8" name="AutoShape 8"/>
          <p:cNvSpPr/>
          <p:nvPr/>
        </p:nvSpPr>
        <p:spPr>
          <a:xfrm>
            <a:off x="8216900" y="5981700"/>
            <a:ext cx="3556000" cy="609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这场通信保卫战彰显了央企的责任与担当，用科技与坚守守护信息生命线，为救灾指挥提供了坚实保障。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8216900" y="2578100"/>
            <a:ext cx="1739900" cy="901700"/>
          </a:xfrm>
          <a:prstGeom prst="roundRect">
            <a:avLst>
              <a:gd name="adj" fmla="val 7042"/>
            </a:avLst>
          </a:prstGeom>
          <a:solidFill>
            <a:srgbClr val="8A8D98">
              <a:alpha val="31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sp>
        <p:nvSpPr>
          <p:cNvPr id="10" name="AutoShape 10"/>
          <p:cNvSpPr/>
          <p:nvPr/>
        </p:nvSpPr>
        <p:spPr>
          <a:xfrm>
            <a:off x="10033000" y="2578100"/>
            <a:ext cx="1739900" cy="901700"/>
          </a:xfrm>
          <a:prstGeom prst="roundRect">
            <a:avLst>
              <a:gd name="adj" fmla="val 7042"/>
            </a:avLst>
          </a:prstGeom>
          <a:solidFill>
            <a:srgbClr val="8A8D98">
              <a:alpha val="31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sp>
        <p:nvSpPr>
          <p:cNvPr id="11" name="AutoShape 11"/>
          <p:cNvSpPr/>
          <p:nvPr/>
        </p:nvSpPr>
        <p:spPr>
          <a:xfrm>
            <a:off x="10033000" y="3543300"/>
            <a:ext cx="1739900" cy="901700"/>
          </a:xfrm>
          <a:prstGeom prst="roundRect">
            <a:avLst>
              <a:gd name="adj" fmla="val 7042"/>
            </a:avLst>
          </a:prstGeom>
          <a:solidFill>
            <a:srgbClr val="8A8D98">
              <a:alpha val="31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sp>
        <p:nvSpPr>
          <p:cNvPr id="12" name="AutoShape 12"/>
          <p:cNvSpPr/>
          <p:nvPr/>
        </p:nvSpPr>
        <p:spPr>
          <a:xfrm>
            <a:off x="8407400" y="2717800"/>
            <a:ext cx="13716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三级联动指挥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000" b="0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省市县三级体系联动，调度中心实时跟踪灾情动态。</a:t>
            </a:r>
            <a:endParaRPr lang="en-US" sz="1000" b="0" i="0" u="none" strike="noStrike">
              <a:solidFill>
                <a:srgbClr val="FFFFFF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13" name="AutoShape 13"/>
          <p:cNvSpPr/>
          <p:nvPr/>
        </p:nvSpPr>
        <p:spPr>
          <a:xfrm>
            <a:off x="10223500" y="2717800"/>
            <a:ext cx="13716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机房紧急保电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000" b="0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紧急搬运发电设备，为21个积水停电机房补电。</a:t>
            </a:r>
            <a:endParaRPr lang="en-US" sz="1000" b="0" i="0" u="none" strike="noStrike">
              <a:solidFill>
                <a:srgbClr val="FFFFFF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14" name="AutoShape 14"/>
          <p:cNvSpPr/>
          <p:nvPr/>
        </p:nvSpPr>
        <p:spPr>
          <a:xfrm>
            <a:off x="8216900" y="3543300"/>
            <a:ext cx="1739900" cy="901700"/>
          </a:xfrm>
          <a:prstGeom prst="roundRect">
            <a:avLst>
              <a:gd name="adj" fmla="val 7042"/>
            </a:avLst>
          </a:prstGeom>
          <a:solidFill>
            <a:srgbClr val="8A8D98">
              <a:alpha val="31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sp>
        <p:nvSpPr>
          <p:cNvPr id="15" name="AutoShape 15"/>
          <p:cNvSpPr/>
          <p:nvPr/>
        </p:nvSpPr>
        <p:spPr>
          <a:xfrm>
            <a:off x="8407400" y="3683000"/>
            <a:ext cx="13716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光缆连夜抢修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000" b="0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连夜攻坚修复边坡溜方压断光缆，恢复通信链路。</a:t>
            </a:r>
            <a:endParaRPr lang="en-US" sz="1000" b="0" i="0" u="none" strike="noStrike">
              <a:solidFill>
                <a:srgbClr val="FFFFFF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16" name="AutoShape 16"/>
          <p:cNvSpPr/>
          <p:nvPr/>
        </p:nvSpPr>
        <p:spPr>
          <a:xfrm>
            <a:off x="10223500" y="3683000"/>
            <a:ext cx="13716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重点区域保障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000" b="0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优先保障党政、医院、应急指挥等关键部门通信。</a:t>
            </a:r>
            <a:endParaRPr lang="en-US" sz="1000" b="0" i="0" u="none" strike="noStrike">
              <a:solidFill>
                <a:srgbClr val="FFFFFF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17" name="AutoShape 17"/>
          <p:cNvSpPr/>
          <p:nvPr/>
        </p:nvSpPr>
        <p:spPr>
          <a:xfrm>
            <a:off x="406400" y="330200"/>
            <a:ext cx="762000" cy="266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应急通信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1130300" y="330200"/>
            <a:ext cx="762000" cy="266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中国电信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11264900" y="330200"/>
            <a:ext cx="762000" cy="190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通信保障</a:t>
            </a:r>
            <a:endParaRPr lang="en-US" sz="1100"/>
          </a:p>
        </p:txBody>
      </p:sp>
      <p:cxnSp>
        <p:nvCxnSpPr>
          <p:cNvPr id="20" name="Connector 20"/>
          <p:cNvCxnSpPr/>
          <p:nvPr/>
        </p:nvCxnSpPr>
        <p:spPr>
          <a:xfrm rot="5019588">
            <a:off x="971550" y="419452"/>
            <a:ext cx="1143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C5C7C8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rcRect l="25432" r="25432"/>
          <a:stretch>
            <a:fillRect/>
          </a:stretch>
        </p:blipFill>
        <p:spPr>
          <a:xfrm>
            <a:off x="7137400" y="0"/>
            <a:ext cx="50546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-114300" y="0"/>
            <a:ext cx="12306300" cy="6858000"/>
          </a:xfrm>
          <a:prstGeom prst="roundRect">
            <a:avLst>
              <a:gd name="adj" fmla="val 0"/>
            </a:avLst>
          </a:prstGeom>
          <a:gradFill rotWithShape="1">
            <a:gsLst>
              <a:gs pos="0">
                <a:srgbClr val="000000">
                  <a:alpha val="100000"/>
                </a:srgbClr>
              </a:gs>
              <a:gs pos="61000">
                <a:srgbClr val="171717">
                  <a:alpha val="100000"/>
                </a:srgbClr>
              </a:gs>
              <a:gs pos="79000">
                <a:srgbClr val="070707">
                  <a:alpha val="0"/>
                </a:srgbClr>
              </a:gs>
              <a:gs pos="91000">
                <a:srgbClr val="030303">
                  <a:alpha val="0"/>
                </a:srgbClr>
              </a:gs>
              <a:gs pos="100000">
                <a:srgbClr val="000000">
                  <a:alpha val="0"/>
                </a:srgbClr>
              </a:gs>
            </a:gsLst>
            <a:lin ang="0"/>
          </a:gra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406400" y="330200"/>
            <a:ext cx="584200" cy="190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通信保障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1130300" y="330200"/>
            <a:ext cx="584200" cy="190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应急响应</a:t>
            </a:r>
            <a:endParaRPr lang="en-US" sz="1100"/>
          </a:p>
        </p:txBody>
      </p:sp>
      <p:cxnSp>
        <p:nvCxnSpPr>
          <p:cNvPr id="6" name="Connector 6"/>
          <p:cNvCxnSpPr/>
          <p:nvPr/>
        </p:nvCxnSpPr>
        <p:spPr>
          <a:xfrm rot="-5937">
            <a:off x="406405" y="2254250"/>
            <a:ext cx="7353322" cy="12700"/>
          </a:xfrm>
          <a:prstGeom prst="straightConnector1">
            <a:avLst/>
          </a:prstGeom>
          <a:solidFill>
            <a:srgbClr val="DEE0E3">
              <a:alpha val="50000"/>
            </a:srgbClr>
          </a:solidFill>
          <a:ln w="12700" cap="flat" cmpd="sng">
            <a:solidFill>
              <a:srgbClr val="FFFFFF">
                <a:alpha val="5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7" name="Connector 7"/>
          <p:cNvCxnSpPr/>
          <p:nvPr/>
        </p:nvCxnSpPr>
        <p:spPr>
          <a:xfrm rot="-5937">
            <a:off x="406405" y="3168650"/>
            <a:ext cx="7353322" cy="12700"/>
          </a:xfrm>
          <a:prstGeom prst="straightConnector1">
            <a:avLst/>
          </a:prstGeom>
          <a:solidFill>
            <a:srgbClr val="DEE0E3">
              <a:alpha val="50000"/>
            </a:srgbClr>
          </a:solidFill>
          <a:ln w="12700" cap="flat" cmpd="sng">
            <a:solidFill>
              <a:srgbClr val="FFFFFF">
                <a:alpha val="5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8" name="Connector 8"/>
          <p:cNvCxnSpPr/>
          <p:nvPr/>
        </p:nvCxnSpPr>
        <p:spPr>
          <a:xfrm rot="-5937">
            <a:off x="406405" y="4070350"/>
            <a:ext cx="7353322" cy="12700"/>
          </a:xfrm>
          <a:prstGeom prst="straightConnector1">
            <a:avLst/>
          </a:prstGeom>
          <a:solidFill>
            <a:srgbClr val="DEE0E3">
              <a:alpha val="50000"/>
            </a:srgbClr>
          </a:solidFill>
          <a:ln w="12700" cap="flat" cmpd="sng">
            <a:solidFill>
              <a:srgbClr val="FFFFFF">
                <a:alpha val="5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9" name="AutoShape 9"/>
          <p:cNvSpPr/>
          <p:nvPr/>
        </p:nvSpPr>
        <p:spPr>
          <a:xfrm>
            <a:off x="406400" y="1371600"/>
            <a:ext cx="2133600" cy="838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4400" b="1" i="0" u="none" strike="noStrike">
                <a:solidFill>
                  <a:srgbClr val="FFFFFF"/>
                </a:solidFill>
                <a:latin typeface="ChillDuanSans WideSemiBold"/>
                <a:ea typeface="ChillDuanSans WideSemiBold"/>
                <a:cs typeface="ChillDuanSans WideSemiBold"/>
                <a:sym typeface="ChillDuanSans WideSemiBold"/>
              </a:rPr>
              <a:t>701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406400" y="2273300"/>
            <a:ext cx="2133600" cy="838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4400" b="1" i="0" u="none" strike="noStrike">
                <a:solidFill>
                  <a:srgbClr val="FFFFFF"/>
                </a:solidFill>
                <a:latin typeface="ChillDuanSans WideSemiBold"/>
                <a:ea typeface="ChillDuanSans WideSemiBold"/>
                <a:cs typeface="ChillDuanSans WideSemiBold"/>
                <a:sym typeface="ChillDuanSans WideSemiBold"/>
              </a:rPr>
              <a:t>248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406400" y="3187700"/>
            <a:ext cx="2133600" cy="838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4400" b="1" i="0" u="none" strike="noStrike">
                <a:solidFill>
                  <a:srgbClr val="FFFFFF"/>
                </a:solidFill>
                <a:latin typeface="ChillDuanSans WideSemiBold"/>
                <a:ea typeface="ChillDuanSans WideSemiBold"/>
                <a:cs typeface="ChillDuanSans WideSemiBold"/>
                <a:sym typeface="ChillDuanSans WideSemiBold"/>
              </a:rPr>
              <a:t>122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2971800" y="1828800"/>
            <a:ext cx="1524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应急保障人员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5041900" y="1765300"/>
            <a:ext cx="21209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全省累计出动应急保障人员，奔赴受灾一线，全力保障通信网络畅通无阻。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2971800" y="2730500"/>
            <a:ext cx="1524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应急车辆投入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2971800" y="3657600"/>
            <a:ext cx="1524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发电油机部署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5041900" y="2679700"/>
            <a:ext cx="21209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投入各类应急保障车辆，全天候待命，确保物资与人员快速抵达现场。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5029200" y="3568700"/>
            <a:ext cx="21209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部署应急发电油机，为通信基站提供不间断电力支持，筑牢通信保障防线。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406400" y="6083300"/>
            <a:ext cx="49276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通信保障的背后，是无数一线抢修人员的无畏坚守。暴雨中、泥泞里，他们用汗水与专业守护着通信生命线，确保灾区联络永不中断，为抢险救灾提供坚实的信息支撑。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406400" y="5168900"/>
            <a:ext cx="6007100" cy="8763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45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通信抢修的硬核数据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11264900" y="330200"/>
            <a:ext cx="584200" cy="190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一线纪实</a:t>
            </a:r>
            <a:endParaRPr lang="en-US" sz="1100"/>
          </a:p>
        </p:txBody>
      </p:sp>
      <p:cxnSp>
        <p:nvCxnSpPr>
          <p:cNvPr id="21" name="Connector 21"/>
          <p:cNvCxnSpPr/>
          <p:nvPr/>
        </p:nvCxnSpPr>
        <p:spPr>
          <a:xfrm rot="5019588">
            <a:off x="971550" y="419452"/>
            <a:ext cx="1143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C5C7C8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2" name="AutoShape 22"/>
          <p:cNvSpPr/>
          <p:nvPr/>
        </p:nvSpPr>
        <p:spPr>
          <a:xfrm>
            <a:off x="7137400" y="6540500"/>
            <a:ext cx="50546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r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FFFFFF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消防员在湍急的洪水中进行救援 | 来源：网络</a:t>
            </a:r>
            <a:endParaRPr lang="en-US" sz="11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rcRect l="10648" r="8449"/>
          <a:stretch>
            <a:fillRect/>
          </a:stretch>
        </p:blipFill>
        <p:spPr>
          <a:xfrm>
            <a:off x="0" y="0"/>
            <a:ext cx="8877300" cy="6858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406400" y="5664200"/>
            <a:ext cx="6573520" cy="8763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45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03 前沿科技与未来展望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 rot="10800000">
            <a:off x="7912100" y="0"/>
            <a:ext cx="4279900" cy="6858000"/>
          </a:xfrm>
          <a:prstGeom prst="roundRect">
            <a:avLst>
              <a:gd name="adj" fmla="val 0"/>
            </a:avLst>
          </a:prstGeom>
          <a:solidFill>
            <a:srgbClr val="00000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419100" y="5143500"/>
            <a:ext cx="7353300" cy="647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探索更多科技力量在防灾减灾领域的巨大潜力，利用卫星通信、智能机器人、AI决策等前沿技术，构建更高效、安全的防灾减灾体系，提升应急响应与救援能力。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8216900" y="1028700"/>
            <a:ext cx="3556000" cy="1155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科技赋能防灾减灾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科技正重塑防灾减灾格局，从通信保障到智能救援，前沿技术让应急响应更迅速精准。这些技术不仅解决当下救援难题，更为未来防灾体系建设提供坚实支撑，开启智慧防灾新篇章。</a:t>
            </a:r>
            <a:endParaRPr lang="en-US" sz="1200" b="0" i="0" u="none" strike="noStrike">
              <a:solidFill>
                <a:srgbClr val="FFFFFF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7" name="AutoShape 7"/>
          <p:cNvSpPr/>
          <p:nvPr/>
        </p:nvSpPr>
        <p:spPr>
          <a:xfrm>
            <a:off x="8216900" y="5981700"/>
            <a:ext cx="3556000" cy="609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前沿科技的融合应用，正构建起全方位、智能化的防灾减灾新生态，为守护生命安全与社会稳定注入强劲动力。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8216900" y="2578100"/>
            <a:ext cx="1739900" cy="901700"/>
          </a:xfrm>
          <a:prstGeom prst="roundRect">
            <a:avLst>
              <a:gd name="adj" fmla="val 7042"/>
            </a:avLst>
          </a:prstGeom>
          <a:solidFill>
            <a:srgbClr val="8A8D98">
              <a:alpha val="31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sp>
        <p:nvSpPr>
          <p:cNvPr id="9" name="AutoShape 9"/>
          <p:cNvSpPr/>
          <p:nvPr/>
        </p:nvSpPr>
        <p:spPr>
          <a:xfrm>
            <a:off x="10033000" y="2578100"/>
            <a:ext cx="1739900" cy="901700"/>
          </a:xfrm>
          <a:prstGeom prst="roundRect">
            <a:avLst>
              <a:gd name="adj" fmla="val 7042"/>
            </a:avLst>
          </a:prstGeom>
          <a:solidFill>
            <a:srgbClr val="8A8D98">
              <a:alpha val="31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sp>
        <p:nvSpPr>
          <p:cNvPr id="10" name="AutoShape 10"/>
          <p:cNvSpPr/>
          <p:nvPr/>
        </p:nvSpPr>
        <p:spPr>
          <a:xfrm>
            <a:off x="10033000" y="3543300"/>
            <a:ext cx="1739900" cy="901700"/>
          </a:xfrm>
          <a:prstGeom prst="roundRect">
            <a:avLst>
              <a:gd name="adj" fmla="val 7042"/>
            </a:avLst>
          </a:prstGeom>
          <a:solidFill>
            <a:srgbClr val="8A8D98">
              <a:alpha val="31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sp>
        <p:nvSpPr>
          <p:cNvPr id="11" name="AutoShape 11"/>
          <p:cNvSpPr/>
          <p:nvPr/>
        </p:nvSpPr>
        <p:spPr>
          <a:xfrm>
            <a:off x="8407400" y="2717800"/>
            <a:ext cx="13716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通信黑科技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000" b="0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卫星便携基站，实现灾区无死角通信覆盖，保障信息畅通。</a:t>
            </a:r>
            <a:endParaRPr lang="en-US" sz="1000" b="0" i="0" u="none" strike="noStrike">
              <a:solidFill>
                <a:srgbClr val="FFFFFF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12" name="AutoShape 12"/>
          <p:cNvSpPr/>
          <p:nvPr/>
        </p:nvSpPr>
        <p:spPr>
          <a:xfrm>
            <a:off x="10223500" y="2717800"/>
            <a:ext cx="13716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排涝新利器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000" b="0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智能排水机器人，远程操控安全作业，高效应对城市内涝。</a:t>
            </a:r>
            <a:endParaRPr lang="en-US" sz="1000" b="0" i="0" u="none" strike="noStrike">
              <a:solidFill>
                <a:srgbClr val="FFFFFF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13" name="AutoShape 13"/>
          <p:cNvSpPr/>
          <p:nvPr/>
        </p:nvSpPr>
        <p:spPr>
          <a:xfrm>
            <a:off x="8216900" y="3543300"/>
            <a:ext cx="1739900" cy="901700"/>
          </a:xfrm>
          <a:prstGeom prst="roundRect">
            <a:avLst>
              <a:gd name="adj" fmla="val 7042"/>
            </a:avLst>
          </a:prstGeom>
          <a:solidFill>
            <a:srgbClr val="8A8D98">
              <a:alpha val="31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sp>
        <p:nvSpPr>
          <p:cNvPr id="14" name="AutoShape 14"/>
          <p:cNvSpPr/>
          <p:nvPr/>
        </p:nvSpPr>
        <p:spPr>
          <a:xfrm>
            <a:off x="8407400" y="3683000"/>
            <a:ext cx="13716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水下探索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000" b="0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水下机器人深入勘察，助力水域搜救与灾情监测排查。</a:t>
            </a:r>
            <a:endParaRPr lang="en-US" sz="1000" b="0" i="0" u="none" strike="noStrike">
              <a:solidFill>
                <a:srgbClr val="FFFFFF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15" name="AutoShape 15"/>
          <p:cNvSpPr/>
          <p:nvPr/>
        </p:nvSpPr>
        <p:spPr>
          <a:xfrm>
            <a:off x="10223500" y="3683000"/>
            <a:ext cx="13716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智能决策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000" b="0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AI辅助系统预测灾情，智能优化救援资源调度与分配。</a:t>
            </a:r>
            <a:endParaRPr lang="en-US" sz="1000" b="0" i="0" u="none" strike="noStrike">
              <a:solidFill>
                <a:srgbClr val="FFFFFF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16" name="AutoShape 16"/>
          <p:cNvSpPr/>
          <p:nvPr/>
        </p:nvSpPr>
        <p:spPr>
          <a:xfrm>
            <a:off x="406400" y="330200"/>
            <a:ext cx="571500" cy="266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防灾科技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1130300" y="330200"/>
            <a:ext cx="571500" cy="266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应急救援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11264900" y="330200"/>
            <a:ext cx="584200" cy="190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未来展望</a:t>
            </a:r>
            <a:endParaRPr lang="en-US" sz="1100"/>
          </a:p>
        </p:txBody>
      </p:sp>
      <p:cxnSp>
        <p:nvCxnSpPr>
          <p:cNvPr id="19" name="Connector 19"/>
          <p:cNvCxnSpPr/>
          <p:nvPr/>
        </p:nvCxnSpPr>
        <p:spPr>
          <a:xfrm rot="5019588">
            <a:off x="971550" y="419452"/>
            <a:ext cx="1143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C5C7C8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 rot="5400000" flipV="1">
            <a:off x="2654300" y="-2679700"/>
            <a:ext cx="6921500" cy="12255500"/>
          </a:xfrm>
          <a:prstGeom prst="roundRect">
            <a:avLst>
              <a:gd name="adj" fmla="val 0"/>
            </a:avLst>
          </a:prstGeom>
          <a:gradFill rotWithShape="1">
            <a:gsLst>
              <a:gs pos="0">
                <a:srgbClr val="141412">
                  <a:alpha val="100000"/>
                </a:srgbClr>
              </a:gs>
              <a:gs pos="53000">
                <a:srgbClr val="131518">
                  <a:alpha val="100000"/>
                </a:srgbClr>
              </a:gs>
              <a:gs pos="78000">
                <a:srgbClr val="111734">
                  <a:alpha val="100000"/>
                </a:srgbClr>
              </a:gs>
              <a:gs pos="90000">
                <a:srgbClr val="0F1E51">
                  <a:alpha val="100000"/>
                </a:srgbClr>
              </a:gs>
              <a:gs pos="100000">
                <a:srgbClr val="031968">
                  <a:alpha val="100000"/>
                </a:srgbClr>
              </a:gs>
            </a:gsLst>
            <a:lin ang="0"/>
          </a:gra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406400" y="330200"/>
            <a:ext cx="762000" cy="266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应急通信</a:t>
            </a:r>
            <a:endParaRPr lang="en-US" sz="1100"/>
          </a:p>
        </p:txBody>
      </p:sp>
      <p:cxnSp>
        <p:nvCxnSpPr>
          <p:cNvPr id="4" name="Connector 4"/>
          <p:cNvCxnSpPr/>
          <p:nvPr/>
        </p:nvCxnSpPr>
        <p:spPr>
          <a:xfrm rot="5019588">
            <a:off x="971550" y="419452"/>
            <a:ext cx="1143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C5C7C8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" name="AutoShape 5"/>
          <p:cNvSpPr/>
          <p:nvPr/>
        </p:nvSpPr>
        <p:spPr>
          <a:xfrm>
            <a:off x="1130300" y="330200"/>
            <a:ext cx="762000" cy="266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通信保障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11049000" y="330200"/>
            <a:ext cx="762000" cy="190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应急装备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406400" y="1270000"/>
            <a:ext cx="5384800" cy="1663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5600" b="1" i="0" u="none" strike="noStrike">
                <a:solidFill>
                  <a:srgbClr val="FFFFFF"/>
                </a:solidFill>
                <a:latin typeface="ChillDuanSans WideSemiBold"/>
                <a:ea typeface="ChillDuanSans WideSemiBold"/>
                <a:cs typeface="ChillDuanSans WideSemiBold"/>
                <a:sym typeface="ChillDuanSans WideSemiBold"/>
              </a:rPr>
              <a:t>卫星便携基站</a:t>
            </a:r>
            <a:endParaRPr lang="en-US" sz="1100"/>
          </a:p>
        </p:txBody>
      </p:sp>
      <p:cxnSp>
        <p:nvCxnSpPr>
          <p:cNvPr id="8" name="Connector 8"/>
          <p:cNvCxnSpPr/>
          <p:nvPr/>
        </p:nvCxnSpPr>
        <p:spPr>
          <a:xfrm rot="-3849">
            <a:off x="406404" y="3422650"/>
            <a:ext cx="11341100" cy="12700"/>
          </a:xfrm>
          <a:prstGeom prst="straightConnector1">
            <a:avLst/>
          </a:prstGeom>
          <a:solidFill>
            <a:srgbClr val="DEE0E3">
              <a:alpha val="50000"/>
            </a:srgbClr>
          </a:solidFill>
          <a:ln w="12700" cap="flat" cmpd="sng">
            <a:solidFill>
              <a:srgbClr val="FFFFFF">
                <a:alpha val="5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9" name="AutoShape 9"/>
          <p:cNvSpPr/>
          <p:nvPr/>
        </p:nvSpPr>
        <p:spPr>
          <a:xfrm>
            <a:off x="406400" y="3733800"/>
            <a:ext cx="4826000" cy="8763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45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技术原理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406400" y="4927600"/>
            <a:ext cx="4851400" cy="1320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无需依赖地面基础设施，通过卫星链路为灾区建立临时通信网络。在地面基站损毁、通信中断的极端灾害环境下，可快速搭建起应急通信通道，实现语音通话、数据传输等基础通信服务的即时恢复，成为抢险救灾中不可或缺的“通信生命线”。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5791200" y="2159000"/>
            <a:ext cx="50800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500" b="0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通信保障的“空中桥梁”</a:t>
            </a:r>
            <a:endParaRPr lang="en-US" sz="1100"/>
          </a:p>
        </p:txBody>
      </p:sp>
      <p:cxnSp>
        <p:nvCxnSpPr>
          <p:cNvPr id="12" name="Connector 12"/>
          <p:cNvCxnSpPr/>
          <p:nvPr/>
        </p:nvCxnSpPr>
        <p:spPr>
          <a:xfrm rot="5385676">
            <a:off x="4114800" y="4946663"/>
            <a:ext cx="3048000" cy="12700"/>
          </a:xfrm>
          <a:prstGeom prst="straightConnector1">
            <a:avLst/>
          </a:prstGeom>
          <a:solidFill>
            <a:srgbClr val="DEE0E3">
              <a:alpha val="50000"/>
            </a:srgbClr>
          </a:solidFill>
          <a:ln w="12700" cap="flat" cmpd="sng">
            <a:solidFill>
              <a:srgbClr val="FFFFFF">
                <a:alpha val="5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3" name="AutoShape 13"/>
          <p:cNvSpPr/>
          <p:nvPr/>
        </p:nvSpPr>
        <p:spPr>
          <a:xfrm>
            <a:off x="6007100" y="3733800"/>
            <a:ext cx="5715000" cy="8763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45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应用前景与价值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6007100" y="4927600"/>
            <a:ext cx="18415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152400" indent="-152400" algn="l">
              <a:lnSpc>
                <a:spcPct val="125000"/>
              </a:lnSpc>
              <a:buClr>
                <a:srgbClr val="FFFFFF"/>
              </a:buClr>
              <a:buChar char="•"/>
              <a:defRPr/>
            </a:pPr>
            <a:r>
              <a:rPr lang="en-US" sz="1200" b="0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极端灾害快速部署，保障指挥通信畅通无阻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7937500" y="4927600"/>
            <a:ext cx="18415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152400" indent="-152400" algn="l">
              <a:lnSpc>
                <a:spcPct val="125000"/>
              </a:lnSpc>
              <a:buClr>
                <a:srgbClr val="FFFFFF"/>
              </a:buClr>
              <a:buChar char="•"/>
              <a:defRPr/>
            </a:pPr>
            <a:r>
              <a:rPr lang="en-US" sz="1200" b="0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摆脱地面设施依赖，实现全天候无死角覆盖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9842500" y="4927600"/>
            <a:ext cx="18415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152400" indent="-152400" algn="l">
              <a:lnSpc>
                <a:spcPct val="125000"/>
              </a:lnSpc>
              <a:buClr>
                <a:srgbClr val="FFFFFF"/>
              </a:buClr>
              <a:buChar char="•"/>
              <a:defRPr/>
            </a:pPr>
            <a:r>
              <a:rPr lang="en-US" sz="1200" b="0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构建天地一体化应急通信体系的核心装备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6007100" y="5715000"/>
            <a:ext cx="18415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152400" indent="-152400" algn="l">
              <a:lnSpc>
                <a:spcPct val="125000"/>
              </a:lnSpc>
              <a:buClr>
                <a:srgbClr val="FFFFFF"/>
              </a:buClr>
              <a:buChar char="•"/>
              <a:defRPr/>
            </a:pPr>
            <a:r>
              <a:rPr lang="en-US" sz="1200" b="0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助力灾后救援指挥与民生信息传递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7937500" y="5715000"/>
            <a:ext cx="18415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152400" indent="-152400" algn="l">
              <a:lnSpc>
                <a:spcPct val="125000"/>
              </a:lnSpc>
              <a:buClr>
                <a:srgbClr val="FFFFFF"/>
              </a:buClr>
              <a:buChar char="•"/>
              <a:defRPr/>
            </a:pPr>
            <a:r>
              <a:rPr lang="en-US" sz="1200" b="0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提升突发公共事件应急响应效率</a:t>
            </a:r>
            <a:endParaRPr lang="en-US" sz="11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 rot="5400000">
            <a:off x="965200" y="1727200"/>
            <a:ext cx="4152900" cy="6096000"/>
          </a:xfrm>
          <a:prstGeom prst="roundRect">
            <a:avLst>
              <a:gd name="adj" fmla="val 0"/>
            </a:avLst>
          </a:prstGeom>
          <a:solidFill>
            <a:srgbClr val="020E5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431800" y="381000"/>
            <a:ext cx="16637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排涝新利器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3136900" y="1435100"/>
            <a:ext cx="20828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algn="l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安全远程操控</a:t>
            </a:r>
            <a:endParaRPr lang="en-US" sz="1100"/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1"/>
          <a:srcRect l="21624" r="21624"/>
          <a:stretch>
            <a:fillRect/>
          </a:stretch>
        </p:blipFill>
        <p:spPr>
          <a:xfrm>
            <a:off x="6972300" y="1016000"/>
            <a:ext cx="4724400" cy="55499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cxnSp>
        <p:nvCxnSpPr>
          <p:cNvPr id="6" name="Connector 6"/>
          <p:cNvCxnSpPr/>
          <p:nvPr/>
        </p:nvCxnSpPr>
        <p:spPr>
          <a:xfrm rot="5393692">
            <a:off x="2635244" y="3454412"/>
            <a:ext cx="6921512" cy="12700"/>
          </a:xfrm>
          <a:prstGeom prst="straightConnector1">
            <a:avLst/>
          </a:prstGeom>
          <a:solidFill>
            <a:srgbClr val="DEE0E3">
              <a:alpha val="50000"/>
            </a:srgbClr>
          </a:solidFill>
          <a:ln w="12700" cap="flat" cmpd="sng">
            <a:solidFill>
              <a:srgbClr val="000000">
                <a:alpha val="5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7" name="AutoShape 7"/>
          <p:cNvSpPr/>
          <p:nvPr/>
        </p:nvSpPr>
        <p:spPr>
          <a:xfrm>
            <a:off x="431800" y="685800"/>
            <a:ext cx="47244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专为城市内涝应急场景打造，集高效排水与智能操控于一体，解决传统排涝难题。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6438900" y="381000"/>
            <a:ext cx="10668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应急排涝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0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智能设备</a:t>
            </a:r>
            <a:endParaRPr lang="en-US" sz="1000" b="0" i="0" u="none" strike="noStrike">
              <a:solidFill>
                <a:srgbClr val="1F2329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9" name="AutoShape 9"/>
          <p:cNvSpPr/>
          <p:nvPr/>
        </p:nvSpPr>
        <p:spPr>
          <a:xfrm>
            <a:off x="431800" y="3467100"/>
            <a:ext cx="5118100" cy="7239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92000"/>
              </a:lnSpc>
              <a:defRPr/>
            </a:pPr>
            <a:r>
              <a:rPr lang="en-US" sz="45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智能排水机器人</a:t>
            </a:r>
            <a:endParaRPr lang="en-US" sz="1100"/>
          </a:p>
        </p:txBody>
      </p:sp>
      <p:cxnSp>
        <p:nvCxnSpPr>
          <p:cNvPr id="10" name="Connector 10"/>
          <p:cNvCxnSpPr/>
          <p:nvPr/>
        </p:nvCxnSpPr>
        <p:spPr>
          <a:xfrm rot="-8050">
            <a:off x="431807" y="4375150"/>
            <a:ext cx="5422915" cy="12700"/>
          </a:xfrm>
          <a:prstGeom prst="straightConnector1">
            <a:avLst/>
          </a:prstGeom>
          <a:solidFill>
            <a:srgbClr val="DEE0E3">
              <a:alpha val="50000"/>
            </a:srgbClr>
          </a:solidFill>
          <a:ln w="12700" cap="flat" cmpd="sng">
            <a:solidFill>
              <a:srgbClr val="FFFFFF">
                <a:alpha val="5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1" name="Connector 11"/>
          <p:cNvCxnSpPr/>
          <p:nvPr/>
        </p:nvCxnSpPr>
        <p:spPr>
          <a:xfrm rot="-8050">
            <a:off x="431807" y="4692650"/>
            <a:ext cx="5422915" cy="12700"/>
          </a:xfrm>
          <a:prstGeom prst="straightConnector1">
            <a:avLst/>
          </a:prstGeom>
          <a:solidFill>
            <a:srgbClr val="DEE0E3">
              <a:alpha val="50000"/>
            </a:srgbClr>
          </a:solidFill>
          <a:ln w="12700" cap="flat" cmpd="sng">
            <a:solidFill>
              <a:srgbClr val="FFFFFF">
                <a:alpha val="5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2" name="Connector 12"/>
          <p:cNvCxnSpPr/>
          <p:nvPr/>
        </p:nvCxnSpPr>
        <p:spPr>
          <a:xfrm rot="-8050">
            <a:off x="431807" y="4997450"/>
            <a:ext cx="5422915" cy="12700"/>
          </a:xfrm>
          <a:prstGeom prst="straightConnector1">
            <a:avLst/>
          </a:prstGeom>
          <a:solidFill>
            <a:srgbClr val="DEE0E3">
              <a:alpha val="50000"/>
            </a:srgbClr>
          </a:solidFill>
          <a:ln w="12700" cap="flat" cmpd="sng">
            <a:solidFill>
              <a:srgbClr val="FFFFFF">
                <a:alpha val="5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3" name="Connector 13"/>
          <p:cNvCxnSpPr/>
          <p:nvPr/>
        </p:nvCxnSpPr>
        <p:spPr>
          <a:xfrm rot="-8050">
            <a:off x="431807" y="5302250"/>
            <a:ext cx="5422915" cy="12700"/>
          </a:xfrm>
          <a:prstGeom prst="straightConnector1">
            <a:avLst/>
          </a:prstGeom>
          <a:solidFill>
            <a:srgbClr val="DEE0E3">
              <a:alpha val="50000"/>
            </a:srgbClr>
          </a:solidFill>
          <a:ln w="12700" cap="flat" cmpd="sng">
            <a:solidFill>
              <a:srgbClr val="FFFFFF">
                <a:alpha val="5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4" name="Connector 14"/>
          <p:cNvCxnSpPr/>
          <p:nvPr/>
        </p:nvCxnSpPr>
        <p:spPr>
          <a:xfrm rot="-8050">
            <a:off x="431807" y="5607050"/>
            <a:ext cx="5422915" cy="12700"/>
          </a:xfrm>
          <a:prstGeom prst="straightConnector1">
            <a:avLst/>
          </a:prstGeom>
          <a:solidFill>
            <a:srgbClr val="DEE0E3">
              <a:alpha val="50000"/>
            </a:srgbClr>
          </a:solidFill>
          <a:ln w="12700" cap="flat" cmpd="sng">
            <a:solidFill>
              <a:srgbClr val="FFFFFF">
                <a:alpha val="5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5" name="Connector 15"/>
          <p:cNvCxnSpPr/>
          <p:nvPr/>
        </p:nvCxnSpPr>
        <p:spPr>
          <a:xfrm rot="-8050">
            <a:off x="431807" y="5924550"/>
            <a:ext cx="5422915" cy="12700"/>
          </a:xfrm>
          <a:prstGeom prst="straightConnector1">
            <a:avLst/>
          </a:prstGeom>
          <a:solidFill>
            <a:srgbClr val="DEE0E3">
              <a:alpha val="50000"/>
            </a:srgbClr>
          </a:solidFill>
          <a:ln w="12700" cap="flat" cmpd="sng">
            <a:solidFill>
              <a:srgbClr val="FFFFFF">
                <a:alpha val="5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6" name="Connector 16"/>
          <p:cNvCxnSpPr/>
          <p:nvPr/>
        </p:nvCxnSpPr>
        <p:spPr>
          <a:xfrm rot="-8050">
            <a:off x="431807" y="6229350"/>
            <a:ext cx="5422915" cy="12700"/>
          </a:xfrm>
          <a:prstGeom prst="straightConnector1">
            <a:avLst/>
          </a:prstGeom>
          <a:solidFill>
            <a:srgbClr val="DEE0E3">
              <a:alpha val="50000"/>
            </a:srgbClr>
          </a:solidFill>
          <a:ln w="12700" cap="flat" cmpd="sng">
            <a:solidFill>
              <a:srgbClr val="FFFFFF">
                <a:alpha val="5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7" name="Connector 17"/>
          <p:cNvCxnSpPr/>
          <p:nvPr/>
        </p:nvCxnSpPr>
        <p:spPr>
          <a:xfrm rot="-8050">
            <a:off x="431807" y="6534150"/>
            <a:ext cx="5422915" cy="12700"/>
          </a:xfrm>
          <a:prstGeom prst="straightConnector1">
            <a:avLst/>
          </a:prstGeom>
          <a:solidFill>
            <a:srgbClr val="DEE0E3">
              <a:alpha val="50000"/>
            </a:srgbClr>
          </a:solidFill>
          <a:ln w="12700" cap="flat" cmpd="sng">
            <a:solidFill>
              <a:srgbClr val="FFFFFF">
                <a:alpha val="5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8" name="AutoShape 18"/>
          <p:cNvSpPr/>
          <p:nvPr/>
        </p:nvSpPr>
        <p:spPr>
          <a:xfrm>
            <a:off x="431800" y="4445000"/>
            <a:ext cx="8382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最大排水量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431800" y="4749800"/>
            <a:ext cx="8382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最大扬程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1689100" y="4432300"/>
            <a:ext cx="1270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1200 m³/h</a:t>
            </a:r>
            <a:endParaRPr lang="en-US" sz="1100"/>
          </a:p>
        </p:txBody>
      </p:sp>
      <p:sp>
        <p:nvSpPr>
          <p:cNvPr id="21" name="AutoShape 21"/>
          <p:cNvSpPr/>
          <p:nvPr/>
        </p:nvSpPr>
        <p:spPr>
          <a:xfrm>
            <a:off x="431800" y="5054600"/>
            <a:ext cx="8382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操控方式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431800" y="5372100"/>
            <a:ext cx="8382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适用场景</a:t>
            </a:r>
            <a:endParaRPr lang="en-US" sz="1100"/>
          </a:p>
        </p:txBody>
      </p:sp>
      <p:sp>
        <p:nvSpPr>
          <p:cNvPr id="23" name="AutoShape 23"/>
          <p:cNvSpPr/>
          <p:nvPr/>
        </p:nvSpPr>
        <p:spPr>
          <a:xfrm>
            <a:off x="431800" y="5676900"/>
            <a:ext cx="8382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核心优势</a:t>
            </a:r>
            <a:endParaRPr lang="en-US" sz="1100"/>
          </a:p>
        </p:txBody>
      </p:sp>
      <p:sp>
        <p:nvSpPr>
          <p:cNvPr id="24" name="AutoShape 24"/>
          <p:cNvSpPr/>
          <p:nvPr/>
        </p:nvSpPr>
        <p:spPr>
          <a:xfrm>
            <a:off x="431800" y="5981700"/>
            <a:ext cx="8382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作业效率</a:t>
            </a:r>
            <a:endParaRPr lang="en-US" sz="1100"/>
          </a:p>
        </p:txBody>
      </p:sp>
      <p:sp>
        <p:nvSpPr>
          <p:cNvPr id="25" name="AutoShape 25"/>
          <p:cNvSpPr/>
          <p:nvPr/>
        </p:nvSpPr>
        <p:spPr>
          <a:xfrm>
            <a:off x="431800" y="6299200"/>
            <a:ext cx="8382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通行能力</a:t>
            </a:r>
            <a:endParaRPr lang="en-US" sz="1100"/>
          </a:p>
        </p:txBody>
      </p:sp>
      <p:sp>
        <p:nvSpPr>
          <p:cNvPr id="26" name="AutoShape 26"/>
          <p:cNvSpPr/>
          <p:nvPr/>
        </p:nvSpPr>
        <p:spPr>
          <a:xfrm>
            <a:off x="1689100" y="4749800"/>
            <a:ext cx="1270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15米</a:t>
            </a:r>
            <a:endParaRPr lang="en-US" sz="1100"/>
          </a:p>
        </p:txBody>
      </p:sp>
      <p:sp>
        <p:nvSpPr>
          <p:cNvPr id="27" name="AutoShape 27"/>
          <p:cNvSpPr/>
          <p:nvPr/>
        </p:nvSpPr>
        <p:spPr>
          <a:xfrm>
            <a:off x="1689100" y="5054600"/>
            <a:ext cx="1270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远程遥控</a:t>
            </a:r>
            <a:endParaRPr lang="en-US" sz="1100"/>
          </a:p>
        </p:txBody>
      </p:sp>
      <p:sp>
        <p:nvSpPr>
          <p:cNvPr id="28" name="AutoShape 28"/>
          <p:cNvSpPr/>
          <p:nvPr/>
        </p:nvSpPr>
        <p:spPr>
          <a:xfrm>
            <a:off x="1689100" y="5372100"/>
            <a:ext cx="16637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地下空间/狭窄巷道</a:t>
            </a:r>
            <a:endParaRPr lang="en-US" sz="1100"/>
          </a:p>
        </p:txBody>
      </p:sp>
      <p:sp>
        <p:nvSpPr>
          <p:cNvPr id="29" name="AutoShape 29"/>
          <p:cNvSpPr/>
          <p:nvPr/>
        </p:nvSpPr>
        <p:spPr>
          <a:xfrm>
            <a:off x="1689100" y="5676900"/>
            <a:ext cx="1270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保障人员安全</a:t>
            </a:r>
            <a:endParaRPr lang="en-US" sz="1100"/>
          </a:p>
        </p:txBody>
      </p:sp>
      <p:sp>
        <p:nvSpPr>
          <p:cNvPr id="30" name="AutoShape 30"/>
          <p:cNvSpPr/>
          <p:nvPr/>
        </p:nvSpPr>
        <p:spPr>
          <a:xfrm>
            <a:off x="1689100" y="5981700"/>
            <a:ext cx="16637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快速高效排涝</a:t>
            </a:r>
            <a:endParaRPr lang="en-US" sz="1100"/>
          </a:p>
        </p:txBody>
      </p:sp>
      <p:sp>
        <p:nvSpPr>
          <p:cNvPr id="31" name="AutoShape 31"/>
          <p:cNvSpPr/>
          <p:nvPr/>
        </p:nvSpPr>
        <p:spPr>
          <a:xfrm>
            <a:off x="1689100" y="6299200"/>
            <a:ext cx="1270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复杂地形适应</a:t>
            </a:r>
            <a:endParaRPr lang="en-US" sz="1100"/>
          </a:p>
        </p:txBody>
      </p:sp>
      <p:sp>
        <p:nvSpPr>
          <p:cNvPr id="32" name="AutoShape 32"/>
          <p:cNvSpPr/>
          <p:nvPr/>
        </p:nvSpPr>
        <p:spPr>
          <a:xfrm>
            <a:off x="5054600" y="4445000"/>
            <a:ext cx="3048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★★★</a:t>
            </a:r>
            <a:endParaRPr lang="en-US" sz="1100"/>
          </a:p>
        </p:txBody>
      </p:sp>
      <p:sp>
        <p:nvSpPr>
          <p:cNvPr id="33" name="AutoShape 33"/>
          <p:cNvSpPr/>
          <p:nvPr/>
        </p:nvSpPr>
        <p:spPr>
          <a:xfrm>
            <a:off x="5054600" y="4749800"/>
            <a:ext cx="3048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★★★</a:t>
            </a:r>
            <a:endParaRPr lang="en-US" sz="1100"/>
          </a:p>
        </p:txBody>
      </p:sp>
      <p:sp>
        <p:nvSpPr>
          <p:cNvPr id="34" name="AutoShape 34"/>
          <p:cNvSpPr/>
          <p:nvPr/>
        </p:nvSpPr>
        <p:spPr>
          <a:xfrm>
            <a:off x="5054600" y="5054600"/>
            <a:ext cx="3048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★★★</a:t>
            </a:r>
            <a:endParaRPr lang="en-US" sz="1100"/>
          </a:p>
        </p:txBody>
      </p:sp>
      <p:sp>
        <p:nvSpPr>
          <p:cNvPr id="35" name="AutoShape 35"/>
          <p:cNvSpPr/>
          <p:nvPr/>
        </p:nvSpPr>
        <p:spPr>
          <a:xfrm>
            <a:off x="5054600" y="5372100"/>
            <a:ext cx="3048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★★★</a:t>
            </a:r>
            <a:endParaRPr lang="en-US" sz="1100"/>
          </a:p>
        </p:txBody>
      </p:sp>
      <p:sp>
        <p:nvSpPr>
          <p:cNvPr id="36" name="AutoShape 36"/>
          <p:cNvSpPr/>
          <p:nvPr/>
        </p:nvSpPr>
        <p:spPr>
          <a:xfrm>
            <a:off x="5054600" y="5676900"/>
            <a:ext cx="3048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★★★</a:t>
            </a:r>
            <a:endParaRPr lang="en-US" sz="1100"/>
          </a:p>
        </p:txBody>
      </p:sp>
      <p:sp>
        <p:nvSpPr>
          <p:cNvPr id="37" name="AutoShape 37"/>
          <p:cNvSpPr/>
          <p:nvPr/>
        </p:nvSpPr>
        <p:spPr>
          <a:xfrm>
            <a:off x="5054600" y="5981700"/>
            <a:ext cx="3048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★★★</a:t>
            </a:r>
            <a:endParaRPr lang="en-US" sz="1100"/>
          </a:p>
        </p:txBody>
      </p:sp>
      <p:sp>
        <p:nvSpPr>
          <p:cNvPr id="38" name="AutoShape 38"/>
          <p:cNvSpPr/>
          <p:nvPr/>
        </p:nvSpPr>
        <p:spPr>
          <a:xfrm>
            <a:off x="5054600" y="6299200"/>
            <a:ext cx="3048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★★★</a:t>
            </a:r>
            <a:endParaRPr lang="en-US" sz="1100"/>
          </a:p>
        </p:txBody>
      </p:sp>
      <p:sp>
        <p:nvSpPr>
          <p:cNvPr id="39" name="AutoShape 39"/>
          <p:cNvSpPr/>
          <p:nvPr/>
        </p:nvSpPr>
        <p:spPr>
          <a:xfrm>
            <a:off x="3136900" y="1727200"/>
            <a:ext cx="2298700" cy="5969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algn="l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操作人员无需进入积水危险区，远程即可完成排涝，彻底杜绝涉水风险。</a:t>
            </a:r>
            <a:endParaRPr lang="en-US" sz="1100"/>
          </a:p>
        </p:txBody>
      </p:sp>
      <p:sp>
        <p:nvSpPr>
          <p:cNvPr id="40" name="AutoShape 40"/>
          <p:cNvSpPr/>
          <p:nvPr/>
        </p:nvSpPr>
        <p:spPr>
          <a:xfrm>
            <a:off x="431800" y="1435100"/>
            <a:ext cx="16637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algn="l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高效排涝性能</a:t>
            </a:r>
            <a:endParaRPr lang="en-US" sz="1100"/>
          </a:p>
        </p:txBody>
      </p:sp>
      <p:sp>
        <p:nvSpPr>
          <p:cNvPr id="41" name="AutoShape 41"/>
          <p:cNvSpPr/>
          <p:nvPr/>
        </p:nvSpPr>
        <p:spPr>
          <a:xfrm>
            <a:off x="431800" y="1727200"/>
            <a:ext cx="2082800" cy="5969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algn="l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超大排量每小时可达1200立方米，扬程高达15米，快速解决城市积水内涝问题。</a:t>
            </a:r>
            <a:endParaRPr lang="en-US" sz="1100"/>
          </a:p>
        </p:txBody>
      </p:sp>
      <p:cxnSp>
        <p:nvCxnSpPr>
          <p:cNvPr id="42" name="Connector 42"/>
          <p:cNvCxnSpPr/>
          <p:nvPr/>
        </p:nvCxnSpPr>
        <p:spPr>
          <a:xfrm rot="5331267">
            <a:off x="2463737" y="1784477"/>
            <a:ext cx="635127" cy="12700"/>
          </a:xfrm>
          <a:prstGeom prst="straightConnector1">
            <a:avLst/>
          </a:prstGeom>
          <a:solidFill>
            <a:srgbClr val="DEE0E3">
              <a:alpha val="18000"/>
            </a:srgbClr>
          </a:solidFill>
          <a:ln w="12700" cap="flat" cmpd="sng">
            <a:solidFill>
              <a:srgbClr val="000000">
                <a:alpha val="18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3" name="AutoShape 43"/>
          <p:cNvSpPr/>
          <p:nvPr/>
        </p:nvSpPr>
        <p:spPr>
          <a:xfrm>
            <a:off x="6972300" y="6159500"/>
            <a:ext cx="47244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操作人员操控智能排水机器人 | 来源：东南网</a:t>
            </a:r>
            <a:endParaRPr lang="en-US" sz="11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406400" y="317500"/>
            <a:ext cx="762000" cy="190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防灾科技</a:t>
            </a:r>
            <a:endParaRPr lang="en-US" sz="1100"/>
          </a:p>
        </p:txBody>
      </p:sp>
      <p:cxnSp>
        <p:nvCxnSpPr>
          <p:cNvPr id="3" name="Connector 3"/>
          <p:cNvCxnSpPr/>
          <p:nvPr/>
        </p:nvCxnSpPr>
        <p:spPr>
          <a:xfrm rot="5019588">
            <a:off x="971550" y="419452"/>
            <a:ext cx="1143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C5C7C8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" name="AutoShape 4"/>
          <p:cNvSpPr/>
          <p:nvPr/>
        </p:nvSpPr>
        <p:spPr>
          <a:xfrm>
            <a:off x="1130300" y="317500"/>
            <a:ext cx="762000" cy="190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应急创新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11264900" y="330200"/>
            <a:ext cx="762000" cy="190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技术赋能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393700" y="647700"/>
            <a:ext cx="10160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4500" b="1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其他潜在技术应用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431800" y="1879600"/>
            <a:ext cx="177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01 水下机器人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2336800" y="1879600"/>
            <a:ext cx="8890000" cy="990600"/>
          </a:xfrm>
          <a:prstGeom prst="roundRect">
            <a:avLst>
              <a:gd name="adj" fmla="val 0"/>
            </a:avLst>
          </a:prstGeom>
          <a:solidFill>
            <a:srgbClr val="F3F4F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190500" tIns="0" rIns="19050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应用场景：</a:t>
            </a:r>
            <a:r>
              <a:rPr lang="en-US" sz="13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面向水下工程勘察、水利堤坝安全检测、沉船打捞及复杂水域（如洪水、海啸后）的人员搜救。</a:t>
            </a:r>
            <a:endParaRPr lang="en-US" sz="1100"/>
          </a:p>
          <a:p>
            <a:pPr marL="0" indent="0" algn="ctr">
              <a:lnSpc>
                <a:spcPct val="125000"/>
              </a:lnSpc>
            </a:pPr>
            <a:r>
              <a:rPr lang="en-US" sz="13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核心优势：</a:t>
            </a:r>
            <a:r>
              <a:rPr lang="en-US" sz="13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突破人类潜水的生理极限，适应高压、浑浊、有毒等恶劣水下环境，实时回传高清影像与数据，精准完成复杂作业任务。</a:t>
            </a:r>
            <a:endParaRPr lang="en-US" sz="1300" b="0" i="0" u="none" strike="noStrike">
              <a:solidFill>
                <a:srgbClr val="374151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9" name="AutoShape 9"/>
          <p:cNvSpPr/>
          <p:nvPr/>
        </p:nvSpPr>
        <p:spPr>
          <a:xfrm>
            <a:off x="431800" y="3111500"/>
            <a:ext cx="177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02 生命探测仪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2336800" y="3111500"/>
            <a:ext cx="8890000" cy="990600"/>
          </a:xfrm>
          <a:prstGeom prst="roundRect">
            <a:avLst>
              <a:gd name="adj" fmla="val 0"/>
            </a:avLst>
          </a:prstGeom>
          <a:solidFill>
            <a:srgbClr val="F3F4F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190500" tIns="0" rIns="19050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应用场景：</a:t>
            </a:r>
            <a:r>
              <a:rPr lang="en-US" sz="13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地震、建筑坍塌后的废墟搜救，以及城市内涝、洪水等积水中的被困人员快速定位与生命体征确认。</a:t>
            </a:r>
            <a:endParaRPr lang="en-US" sz="1100"/>
          </a:p>
          <a:p>
            <a:pPr marL="0" indent="0" algn="ctr">
              <a:lnSpc>
                <a:spcPct val="125000"/>
              </a:lnSpc>
            </a:pPr>
            <a:r>
              <a:rPr lang="en-US" sz="13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核心优势：</a:t>
            </a:r>
            <a:r>
              <a:rPr lang="en-US" sz="13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融合红外热成像与雷达探测技术，可穿透钢筋混凝土、废墟瓦砾等障碍物，精准识别微弱生命体征，大幅缩短救援黄金时间。</a:t>
            </a:r>
            <a:endParaRPr lang="en-US" sz="1300" b="0" i="0" u="none" strike="noStrike">
              <a:solidFill>
                <a:srgbClr val="374151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11" name="AutoShape 11"/>
          <p:cNvSpPr/>
          <p:nvPr/>
        </p:nvSpPr>
        <p:spPr>
          <a:xfrm>
            <a:off x="431800" y="4343400"/>
            <a:ext cx="177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03 AI辅助决策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2336800" y="4343400"/>
            <a:ext cx="8890000" cy="990600"/>
          </a:xfrm>
          <a:prstGeom prst="roundRect">
            <a:avLst>
              <a:gd name="adj" fmla="val 0"/>
            </a:avLst>
          </a:prstGeom>
          <a:solidFill>
            <a:srgbClr val="F3F4F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190500" tIns="0" rIns="19050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应用场景：</a:t>
            </a:r>
            <a:r>
              <a:rPr lang="en-US" sz="13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灾害发生前的趋势预测、灾害发生时的应急资源智能调度、救援路线规划及灾后损失评估与重建分析。</a:t>
            </a:r>
            <a:endParaRPr lang="en-US" sz="1100"/>
          </a:p>
          <a:p>
            <a:pPr marL="0" indent="0" algn="ctr">
              <a:lnSpc>
                <a:spcPct val="125000"/>
              </a:lnSpc>
            </a:pPr>
            <a:r>
              <a:rPr lang="en-US" sz="13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核心优势：</a:t>
            </a:r>
            <a:r>
              <a:rPr lang="en-US" sz="13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基于大数据挖掘与AI算法模型，快速整合气象、地理、人口等多源数据，提供科学的决策依据，提升应急响应效率与资源利用率。</a:t>
            </a:r>
            <a:endParaRPr lang="en-US" sz="1300" b="0" i="0" u="none" strike="noStrike">
              <a:solidFill>
                <a:srgbClr val="374151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13" name="AutoShape 13"/>
          <p:cNvSpPr/>
          <p:nvPr/>
        </p:nvSpPr>
        <p:spPr>
          <a:xfrm>
            <a:off x="431800" y="5664200"/>
            <a:ext cx="11176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这些前沿技术的融合应用，正在推动防灾减灾体系从“被动响应”向“主动预判”转型，从“经验决策”向“智能决策”升级。通过技术赋能，我们能够更高效地应对各类突发灾害，最大限度地减少生命财产损失，为构建安全、韧性的社会提供坚实的科技支撑。</a:t>
            </a:r>
            <a:endParaRPr lang="en-US" sz="11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406400" y="1041400"/>
            <a:ext cx="3708400" cy="2413000"/>
          </a:xfrm>
          <a:prstGeom prst="roundRect">
            <a:avLst>
              <a:gd name="adj" fmla="val 2631"/>
            </a:avLst>
          </a:prstGeom>
          <a:solidFill>
            <a:srgbClr val="DEE0E3">
              <a:alpha val="49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4241800" y="1041400"/>
            <a:ext cx="3708400" cy="2413000"/>
          </a:xfrm>
          <a:prstGeom prst="roundRect">
            <a:avLst>
              <a:gd name="adj" fmla="val 2631"/>
            </a:avLst>
          </a:prstGeom>
          <a:solidFill>
            <a:srgbClr val="DEE0E3">
              <a:alpha val="49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8064500" y="1041400"/>
            <a:ext cx="3708400" cy="2413000"/>
          </a:xfrm>
          <a:prstGeom prst="roundRect">
            <a:avLst>
              <a:gd name="adj" fmla="val 2631"/>
            </a:avLst>
          </a:prstGeom>
          <a:solidFill>
            <a:srgbClr val="DEE0E3">
              <a:alpha val="49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cxnSp>
        <p:nvCxnSpPr>
          <p:cNvPr id="5" name="Connector 5"/>
          <p:cNvCxnSpPr/>
          <p:nvPr/>
        </p:nvCxnSpPr>
        <p:spPr>
          <a:xfrm rot="-13171">
            <a:off x="635012" y="1593850"/>
            <a:ext cx="3314700" cy="12700"/>
          </a:xfrm>
          <a:prstGeom prst="straightConnector1">
            <a:avLst/>
          </a:prstGeom>
          <a:solidFill>
            <a:srgbClr val="DEE0E3">
              <a:alpha val="50000"/>
            </a:srgbClr>
          </a:solidFill>
          <a:ln w="12700" cap="flat" cmpd="sng">
            <a:solidFill>
              <a:srgbClr val="2B2F36">
                <a:alpha val="5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" name="AutoShape 6"/>
          <p:cNvSpPr/>
          <p:nvPr/>
        </p:nvSpPr>
        <p:spPr>
          <a:xfrm>
            <a:off x="647700" y="1244600"/>
            <a:ext cx="18161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精准支援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647700" y="1739900"/>
            <a:ext cx="18161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9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无人机突破地形限制，实现空中物资投送，打通救援补给通道。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1803400" y="2286000"/>
            <a:ext cx="2133600" cy="838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r">
              <a:lnSpc>
                <a:spcPct val="125000"/>
              </a:lnSpc>
              <a:defRPr/>
            </a:pPr>
            <a:r>
              <a:rPr lang="en-US" sz="4400" b="1" i="0" u="none" strike="noStrike">
                <a:solidFill>
                  <a:srgbClr val="1F2329"/>
                </a:solidFill>
                <a:latin typeface="ChillDuanSans WideSemiBold"/>
                <a:ea typeface="ChillDuanSans WideSemiBold"/>
                <a:cs typeface="ChillDuanSans WideSemiBold"/>
                <a:sym typeface="ChillDuanSans WideSemiBold"/>
              </a:rPr>
              <a:t>500+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2870200" y="3035300"/>
            <a:ext cx="10287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r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累计投送架次</a:t>
            </a:r>
            <a:endParaRPr lang="en-US" sz="1100"/>
          </a:p>
        </p:txBody>
      </p:sp>
      <p:cxnSp>
        <p:nvCxnSpPr>
          <p:cNvPr id="10" name="Connector 10"/>
          <p:cNvCxnSpPr/>
          <p:nvPr/>
        </p:nvCxnSpPr>
        <p:spPr>
          <a:xfrm rot="-13222">
            <a:off x="4432312" y="1593850"/>
            <a:ext cx="3302000" cy="12700"/>
          </a:xfrm>
          <a:prstGeom prst="straightConnector1">
            <a:avLst/>
          </a:prstGeom>
          <a:solidFill>
            <a:srgbClr val="DEE0E3">
              <a:alpha val="50000"/>
            </a:srgbClr>
          </a:solidFill>
          <a:ln w="12700" cap="flat" cmpd="sng">
            <a:solidFill>
              <a:srgbClr val="2B2F36">
                <a:alpha val="5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1" name="AutoShape 11"/>
          <p:cNvSpPr/>
          <p:nvPr/>
        </p:nvSpPr>
        <p:spPr>
          <a:xfrm>
            <a:off x="4432300" y="1244600"/>
            <a:ext cx="18161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快速恢复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4432300" y="1739900"/>
            <a:ext cx="18161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9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大型排涝泵站全速运转，高效抽排积水，加速城市秩序复苏。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5600700" y="2286000"/>
            <a:ext cx="2133600" cy="838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r">
              <a:lnSpc>
                <a:spcPct val="125000"/>
              </a:lnSpc>
              <a:defRPr/>
            </a:pPr>
            <a:r>
              <a:rPr lang="en-US" sz="4400" b="1" i="0" u="none" strike="noStrike">
                <a:solidFill>
                  <a:srgbClr val="1F2329"/>
                </a:solidFill>
                <a:latin typeface="ChillDuanSans WideSemiBold"/>
                <a:ea typeface="ChillDuanSans WideSemiBold"/>
                <a:cs typeface="ChillDuanSans WideSemiBold"/>
                <a:sym typeface="ChillDuanSans WideSemiBold"/>
              </a:rPr>
              <a:t>24h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6654800" y="3035300"/>
            <a:ext cx="10287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r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泵站持续运转时长</a:t>
            </a:r>
            <a:endParaRPr lang="en-US" sz="1100"/>
          </a:p>
        </p:txBody>
      </p:sp>
      <p:cxnSp>
        <p:nvCxnSpPr>
          <p:cNvPr id="15" name="Connector 15"/>
          <p:cNvCxnSpPr/>
          <p:nvPr/>
        </p:nvCxnSpPr>
        <p:spPr>
          <a:xfrm rot="-13222">
            <a:off x="8267712" y="1606550"/>
            <a:ext cx="3302000" cy="12700"/>
          </a:xfrm>
          <a:prstGeom prst="straightConnector1">
            <a:avLst/>
          </a:prstGeom>
          <a:solidFill>
            <a:srgbClr val="DEE0E3">
              <a:alpha val="50000"/>
            </a:srgbClr>
          </a:solidFill>
          <a:ln w="12700" cap="flat" cmpd="sng">
            <a:solidFill>
              <a:srgbClr val="2B2F36">
                <a:alpha val="5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6" name="AutoShape 16"/>
          <p:cNvSpPr/>
          <p:nvPr/>
        </p:nvSpPr>
        <p:spPr>
          <a:xfrm>
            <a:off x="406400" y="3530600"/>
            <a:ext cx="11366500" cy="2603500"/>
          </a:xfrm>
          <a:prstGeom prst="roundRect">
            <a:avLst>
              <a:gd name="adj" fmla="val 2439"/>
            </a:avLst>
          </a:prstGeom>
          <a:gradFill rotWithShape="1">
            <a:gsLst>
              <a:gs pos="0">
                <a:srgbClr val="141412">
                  <a:alpha val="100000"/>
                </a:srgbClr>
              </a:gs>
              <a:gs pos="51000">
                <a:srgbClr val="121520">
                  <a:alpha val="100000"/>
                </a:srgbClr>
              </a:gs>
              <a:gs pos="69000">
                <a:srgbClr val="0F1639">
                  <a:alpha val="100000"/>
                </a:srgbClr>
              </a:gs>
              <a:gs pos="79000">
                <a:srgbClr val="0C1751">
                  <a:alpha val="100000"/>
                </a:srgbClr>
              </a:gs>
              <a:gs pos="100000">
                <a:srgbClr val="06187B">
                  <a:alpha val="100000"/>
                </a:srgbClr>
              </a:gs>
            </a:gsLst>
            <a:lin ang="0"/>
          </a:gra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sp>
        <p:nvSpPr>
          <p:cNvPr id="17" name="AutoShape 17"/>
          <p:cNvSpPr/>
          <p:nvPr/>
        </p:nvSpPr>
        <p:spPr>
          <a:xfrm>
            <a:off x="8267700" y="1244600"/>
            <a:ext cx="18161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稳定指挥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8267700" y="1739900"/>
            <a:ext cx="18161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9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应急通信体系保障信息全时畅通，筑牢指挥决策的信息生命线。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8851900" y="2286000"/>
            <a:ext cx="2705100" cy="838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r">
              <a:lnSpc>
                <a:spcPct val="125000"/>
              </a:lnSpc>
              <a:defRPr/>
            </a:pPr>
            <a:r>
              <a:rPr lang="en-US" sz="4400" b="1" i="0" u="none" strike="noStrike">
                <a:solidFill>
                  <a:srgbClr val="1F2329"/>
                </a:solidFill>
                <a:latin typeface="ChillDuanSans WideSemiBold"/>
                <a:ea typeface="ChillDuanSans WideSemiBold"/>
                <a:cs typeface="ChillDuanSans WideSemiBold"/>
                <a:sym typeface="ChillDuanSans WideSemiBold"/>
              </a:rPr>
              <a:t>99.9%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10490200" y="3035300"/>
            <a:ext cx="10287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r">
              <a:lnSpc>
                <a:spcPct val="108000"/>
              </a:lnSpc>
              <a:defRPr/>
            </a:pPr>
            <a:r>
              <a:rPr lang="en-US" sz="9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通信保障畅通率</a:t>
            </a:r>
            <a:endParaRPr lang="en-US" sz="1100"/>
          </a:p>
        </p:txBody>
      </p:sp>
      <p:sp>
        <p:nvSpPr>
          <p:cNvPr id="21" name="AutoShape 21"/>
          <p:cNvSpPr/>
          <p:nvPr/>
        </p:nvSpPr>
        <p:spPr>
          <a:xfrm>
            <a:off x="647700" y="3759200"/>
            <a:ext cx="1816100" cy="3429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未来展望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647700" y="4127500"/>
            <a:ext cx="3987800" cy="4699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随着卫星基站、智能机器人与大数据预警等前沿技术的深度融合，我国应急救援的智能化、精准化水平将全面跃升，为守护人民生命财产安全构筑更坚实的科技屏障。</a:t>
            </a:r>
            <a:endParaRPr lang="en-US" sz="1100"/>
          </a:p>
        </p:txBody>
      </p:sp>
      <p:sp>
        <p:nvSpPr>
          <p:cNvPr id="23" name="AutoShape 23"/>
          <p:cNvSpPr/>
          <p:nvPr/>
        </p:nvSpPr>
        <p:spPr>
          <a:xfrm>
            <a:off x="1600200" y="5257800"/>
            <a:ext cx="5842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智能化</a:t>
            </a:r>
            <a:endParaRPr lang="en-US" sz="1100"/>
          </a:p>
        </p:txBody>
      </p:sp>
      <p:sp>
        <p:nvSpPr>
          <p:cNvPr id="24" name="AutoShape 24"/>
          <p:cNvSpPr/>
          <p:nvPr/>
        </p:nvSpPr>
        <p:spPr>
          <a:xfrm>
            <a:off x="4432300" y="4787900"/>
            <a:ext cx="5842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精准化</a:t>
            </a:r>
            <a:endParaRPr lang="en-US" sz="1100"/>
          </a:p>
        </p:txBody>
      </p:sp>
      <p:sp>
        <p:nvSpPr>
          <p:cNvPr id="25" name="AutoShape 25"/>
          <p:cNvSpPr/>
          <p:nvPr/>
        </p:nvSpPr>
        <p:spPr>
          <a:xfrm>
            <a:off x="7175500" y="4559300"/>
            <a:ext cx="5842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一体化</a:t>
            </a:r>
            <a:endParaRPr lang="en-US" sz="1100"/>
          </a:p>
        </p:txBody>
      </p:sp>
      <p:sp>
        <p:nvSpPr>
          <p:cNvPr id="26" name="AutoShape 26"/>
          <p:cNvSpPr/>
          <p:nvPr/>
        </p:nvSpPr>
        <p:spPr>
          <a:xfrm>
            <a:off x="9791700" y="4305300"/>
            <a:ext cx="5842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高效化</a:t>
            </a:r>
            <a:endParaRPr lang="en-US" sz="1100"/>
          </a:p>
        </p:txBody>
      </p:sp>
      <p:sp>
        <p:nvSpPr>
          <p:cNvPr id="27" name="AutoShape 27"/>
          <p:cNvSpPr/>
          <p:nvPr/>
        </p:nvSpPr>
        <p:spPr>
          <a:xfrm>
            <a:off x="11264900" y="330200"/>
            <a:ext cx="584200" cy="190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智慧防灾</a:t>
            </a:r>
            <a:endParaRPr lang="en-US" sz="1100"/>
          </a:p>
        </p:txBody>
      </p:sp>
      <p:sp>
        <p:nvSpPr>
          <p:cNvPr id="28" name="AutoShape 28"/>
          <p:cNvSpPr/>
          <p:nvPr/>
        </p:nvSpPr>
        <p:spPr>
          <a:xfrm>
            <a:off x="406400" y="317500"/>
            <a:ext cx="584200" cy="190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科技救灾</a:t>
            </a:r>
            <a:endParaRPr lang="en-US" sz="1100"/>
          </a:p>
        </p:txBody>
      </p:sp>
      <p:sp>
        <p:nvSpPr>
          <p:cNvPr id="29" name="AutoShape 29"/>
          <p:cNvSpPr/>
          <p:nvPr/>
        </p:nvSpPr>
        <p:spPr>
          <a:xfrm>
            <a:off x="1130300" y="317500"/>
            <a:ext cx="584200" cy="190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应急保障</a:t>
            </a:r>
            <a:endParaRPr lang="en-US" sz="1100"/>
          </a:p>
        </p:txBody>
      </p:sp>
      <p:cxnSp>
        <p:nvCxnSpPr>
          <p:cNvPr id="30" name="Connector 30"/>
          <p:cNvCxnSpPr/>
          <p:nvPr/>
        </p:nvCxnSpPr>
        <p:spPr>
          <a:xfrm rot="-16687">
            <a:off x="647715" y="5505450"/>
            <a:ext cx="2616200" cy="12700"/>
          </a:xfrm>
          <a:prstGeom prst="straightConnector1">
            <a:avLst/>
          </a:prstGeom>
          <a:solidFill>
            <a:srgbClr val="DEE0E3">
              <a:alpha val="35000"/>
            </a:srgbClr>
          </a:solidFill>
          <a:ln w="25400" cap="flat" cmpd="sng">
            <a:solidFill>
              <a:srgbClr val="FFFFFF">
                <a:alpha val="35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cxnSp>
        <p:nvCxnSpPr>
          <p:cNvPr id="31" name="Connector 31"/>
          <p:cNvCxnSpPr/>
          <p:nvPr/>
        </p:nvCxnSpPr>
        <p:spPr>
          <a:xfrm rot="-16687">
            <a:off x="647715" y="5632450"/>
            <a:ext cx="2616200" cy="12700"/>
          </a:xfrm>
          <a:prstGeom prst="straightConnector1">
            <a:avLst/>
          </a:prstGeom>
          <a:solidFill>
            <a:srgbClr val="DEE0E3">
              <a:alpha val="35000"/>
            </a:srgbClr>
          </a:solidFill>
          <a:ln w="25400" cap="flat" cmpd="sng">
            <a:solidFill>
              <a:srgbClr val="FFFFFF">
                <a:alpha val="35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cxnSp>
        <p:nvCxnSpPr>
          <p:cNvPr id="32" name="Connector 32"/>
          <p:cNvCxnSpPr/>
          <p:nvPr/>
        </p:nvCxnSpPr>
        <p:spPr>
          <a:xfrm rot="-16687">
            <a:off x="647715" y="5848350"/>
            <a:ext cx="2616200" cy="12700"/>
          </a:xfrm>
          <a:prstGeom prst="straightConnector1">
            <a:avLst/>
          </a:prstGeom>
          <a:solidFill>
            <a:srgbClr val="DEE0E3">
              <a:alpha val="35000"/>
            </a:srgbClr>
          </a:solidFill>
          <a:ln w="25400" cap="flat" cmpd="sng">
            <a:solidFill>
              <a:srgbClr val="FFFFFF">
                <a:alpha val="35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cxnSp>
        <p:nvCxnSpPr>
          <p:cNvPr id="33" name="Connector 33"/>
          <p:cNvCxnSpPr/>
          <p:nvPr/>
        </p:nvCxnSpPr>
        <p:spPr>
          <a:xfrm rot="-16687">
            <a:off x="647715" y="5734050"/>
            <a:ext cx="2616200" cy="12700"/>
          </a:xfrm>
          <a:prstGeom prst="straightConnector1">
            <a:avLst/>
          </a:prstGeom>
          <a:solidFill>
            <a:srgbClr val="DEE0E3">
              <a:alpha val="35000"/>
            </a:srgbClr>
          </a:solidFill>
          <a:ln w="25400" cap="flat" cmpd="sng">
            <a:solidFill>
              <a:srgbClr val="FFFFFF">
                <a:alpha val="35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cxnSp>
        <p:nvCxnSpPr>
          <p:cNvPr id="34" name="Connector 34"/>
          <p:cNvCxnSpPr/>
          <p:nvPr/>
        </p:nvCxnSpPr>
        <p:spPr>
          <a:xfrm rot="-16769">
            <a:off x="8851915" y="5289550"/>
            <a:ext cx="2603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FFFFFF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cxnSp>
        <p:nvCxnSpPr>
          <p:cNvPr id="35" name="Connector 35"/>
          <p:cNvCxnSpPr/>
          <p:nvPr/>
        </p:nvCxnSpPr>
        <p:spPr>
          <a:xfrm rot="-16769">
            <a:off x="8851915" y="5403850"/>
            <a:ext cx="2603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FFFFFF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cxnSp>
        <p:nvCxnSpPr>
          <p:cNvPr id="36" name="Connector 36"/>
          <p:cNvCxnSpPr/>
          <p:nvPr/>
        </p:nvCxnSpPr>
        <p:spPr>
          <a:xfrm rot="-16769">
            <a:off x="8851915" y="5632450"/>
            <a:ext cx="2603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FFFFFF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cxnSp>
        <p:nvCxnSpPr>
          <p:cNvPr id="37" name="Connector 37"/>
          <p:cNvCxnSpPr/>
          <p:nvPr/>
        </p:nvCxnSpPr>
        <p:spPr>
          <a:xfrm rot="-16769">
            <a:off x="8851915" y="5518150"/>
            <a:ext cx="2603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FFFFFF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cxnSp>
        <p:nvCxnSpPr>
          <p:cNvPr id="38" name="Connector 38"/>
          <p:cNvCxnSpPr/>
          <p:nvPr/>
        </p:nvCxnSpPr>
        <p:spPr>
          <a:xfrm rot="-16769">
            <a:off x="8851915" y="4832350"/>
            <a:ext cx="2603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FFFFFF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cxnSp>
        <p:nvCxnSpPr>
          <p:cNvPr id="39" name="Connector 39"/>
          <p:cNvCxnSpPr/>
          <p:nvPr/>
        </p:nvCxnSpPr>
        <p:spPr>
          <a:xfrm rot="-16769">
            <a:off x="8851915" y="4959350"/>
            <a:ext cx="2603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FFFFFF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cxnSp>
        <p:nvCxnSpPr>
          <p:cNvPr id="40" name="Connector 40"/>
          <p:cNvCxnSpPr/>
          <p:nvPr/>
        </p:nvCxnSpPr>
        <p:spPr>
          <a:xfrm rot="-16769">
            <a:off x="8851915" y="5175250"/>
            <a:ext cx="2603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FFFFFF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cxnSp>
        <p:nvCxnSpPr>
          <p:cNvPr id="41" name="Connector 41"/>
          <p:cNvCxnSpPr/>
          <p:nvPr/>
        </p:nvCxnSpPr>
        <p:spPr>
          <a:xfrm rot="-16769">
            <a:off x="8851915" y="5060950"/>
            <a:ext cx="2603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FFFFFF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cxnSp>
        <p:nvCxnSpPr>
          <p:cNvPr id="42" name="Connector 42"/>
          <p:cNvCxnSpPr/>
          <p:nvPr/>
        </p:nvCxnSpPr>
        <p:spPr>
          <a:xfrm rot="-16769">
            <a:off x="8851915" y="4718050"/>
            <a:ext cx="2603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FFFFFF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cxnSp>
        <p:nvCxnSpPr>
          <p:cNvPr id="43" name="Connector 43"/>
          <p:cNvCxnSpPr/>
          <p:nvPr/>
        </p:nvCxnSpPr>
        <p:spPr>
          <a:xfrm rot="-16769">
            <a:off x="8851915" y="4603750"/>
            <a:ext cx="2603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FFFFFF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cxnSp>
        <p:nvCxnSpPr>
          <p:cNvPr id="44" name="Connector 44"/>
          <p:cNvCxnSpPr/>
          <p:nvPr/>
        </p:nvCxnSpPr>
        <p:spPr>
          <a:xfrm rot="-16769">
            <a:off x="8851915" y="5734050"/>
            <a:ext cx="2603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FFFFFF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cxnSp>
        <p:nvCxnSpPr>
          <p:cNvPr id="45" name="Connector 45"/>
          <p:cNvCxnSpPr/>
          <p:nvPr/>
        </p:nvCxnSpPr>
        <p:spPr>
          <a:xfrm rot="-16769">
            <a:off x="8851915" y="5848350"/>
            <a:ext cx="2603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FFFFFF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cxnSp>
        <p:nvCxnSpPr>
          <p:cNvPr id="46" name="Connector 46"/>
          <p:cNvCxnSpPr/>
          <p:nvPr/>
        </p:nvCxnSpPr>
        <p:spPr>
          <a:xfrm rot="-16687">
            <a:off x="6108715" y="5505450"/>
            <a:ext cx="2616200" cy="12700"/>
          </a:xfrm>
          <a:prstGeom prst="straightConnector1">
            <a:avLst/>
          </a:prstGeom>
          <a:solidFill>
            <a:srgbClr val="DEE0E3">
              <a:alpha val="75000"/>
            </a:srgbClr>
          </a:solidFill>
          <a:ln w="25400" cap="flat" cmpd="sng">
            <a:solidFill>
              <a:srgbClr val="FFFFFF">
                <a:alpha val="75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cxnSp>
        <p:nvCxnSpPr>
          <p:cNvPr id="47" name="Connector 47"/>
          <p:cNvCxnSpPr/>
          <p:nvPr/>
        </p:nvCxnSpPr>
        <p:spPr>
          <a:xfrm rot="-16687">
            <a:off x="6108715" y="5619750"/>
            <a:ext cx="2616200" cy="12700"/>
          </a:xfrm>
          <a:prstGeom prst="straightConnector1">
            <a:avLst/>
          </a:prstGeom>
          <a:solidFill>
            <a:srgbClr val="DEE0E3">
              <a:alpha val="75000"/>
            </a:srgbClr>
          </a:solidFill>
          <a:ln w="25400" cap="flat" cmpd="sng">
            <a:solidFill>
              <a:srgbClr val="FFFFFF">
                <a:alpha val="75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cxnSp>
        <p:nvCxnSpPr>
          <p:cNvPr id="48" name="Connector 48"/>
          <p:cNvCxnSpPr/>
          <p:nvPr/>
        </p:nvCxnSpPr>
        <p:spPr>
          <a:xfrm rot="-16687">
            <a:off x="6108715" y="5848350"/>
            <a:ext cx="2616200" cy="12700"/>
          </a:xfrm>
          <a:prstGeom prst="straightConnector1">
            <a:avLst/>
          </a:prstGeom>
          <a:solidFill>
            <a:srgbClr val="DEE0E3">
              <a:alpha val="75000"/>
            </a:srgbClr>
          </a:solidFill>
          <a:ln w="25400" cap="flat" cmpd="sng">
            <a:solidFill>
              <a:srgbClr val="FFFFFF">
                <a:alpha val="75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cxnSp>
        <p:nvCxnSpPr>
          <p:cNvPr id="49" name="Connector 49"/>
          <p:cNvCxnSpPr/>
          <p:nvPr/>
        </p:nvCxnSpPr>
        <p:spPr>
          <a:xfrm rot="-16687">
            <a:off x="6108715" y="5734050"/>
            <a:ext cx="2616200" cy="12700"/>
          </a:xfrm>
          <a:prstGeom prst="straightConnector1">
            <a:avLst/>
          </a:prstGeom>
          <a:solidFill>
            <a:srgbClr val="DEE0E3">
              <a:alpha val="75000"/>
            </a:srgbClr>
          </a:solidFill>
          <a:ln w="25400" cap="flat" cmpd="sng">
            <a:solidFill>
              <a:srgbClr val="FFFFFF">
                <a:alpha val="75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cxnSp>
        <p:nvCxnSpPr>
          <p:cNvPr id="50" name="Connector 50"/>
          <p:cNvCxnSpPr/>
          <p:nvPr/>
        </p:nvCxnSpPr>
        <p:spPr>
          <a:xfrm rot="-16687">
            <a:off x="6108715" y="5048250"/>
            <a:ext cx="2616200" cy="12700"/>
          </a:xfrm>
          <a:prstGeom prst="straightConnector1">
            <a:avLst/>
          </a:prstGeom>
          <a:solidFill>
            <a:srgbClr val="DEE0E3">
              <a:alpha val="75000"/>
            </a:srgbClr>
          </a:solidFill>
          <a:ln w="25400" cap="flat" cmpd="sng">
            <a:solidFill>
              <a:srgbClr val="FFFFFF">
                <a:alpha val="75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cxnSp>
        <p:nvCxnSpPr>
          <p:cNvPr id="51" name="Connector 51"/>
          <p:cNvCxnSpPr/>
          <p:nvPr/>
        </p:nvCxnSpPr>
        <p:spPr>
          <a:xfrm rot="-16687">
            <a:off x="6108715" y="5175250"/>
            <a:ext cx="2616200" cy="12700"/>
          </a:xfrm>
          <a:prstGeom prst="straightConnector1">
            <a:avLst/>
          </a:prstGeom>
          <a:solidFill>
            <a:srgbClr val="DEE0E3">
              <a:alpha val="75000"/>
            </a:srgbClr>
          </a:solidFill>
          <a:ln w="25400" cap="flat" cmpd="sng">
            <a:solidFill>
              <a:srgbClr val="FFFFFF">
                <a:alpha val="75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cxnSp>
        <p:nvCxnSpPr>
          <p:cNvPr id="52" name="Connector 52"/>
          <p:cNvCxnSpPr/>
          <p:nvPr/>
        </p:nvCxnSpPr>
        <p:spPr>
          <a:xfrm rot="-16687">
            <a:off x="6108715" y="5391150"/>
            <a:ext cx="2616200" cy="12700"/>
          </a:xfrm>
          <a:prstGeom prst="straightConnector1">
            <a:avLst/>
          </a:prstGeom>
          <a:solidFill>
            <a:srgbClr val="DEE0E3">
              <a:alpha val="75000"/>
            </a:srgbClr>
          </a:solidFill>
          <a:ln w="25400" cap="flat" cmpd="sng">
            <a:solidFill>
              <a:srgbClr val="FFFFFF">
                <a:alpha val="75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cxnSp>
        <p:nvCxnSpPr>
          <p:cNvPr id="53" name="Connector 53"/>
          <p:cNvCxnSpPr/>
          <p:nvPr/>
        </p:nvCxnSpPr>
        <p:spPr>
          <a:xfrm rot="-16687">
            <a:off x="6108715" y="5276850"/>
            <a:ext cx="2616200" cy="12700"/>
          </a:xfrm>
          <a:prstGeom prst="straightConnector1">
            <a:avLst/>
          </a:prstGeom>
          <a:solidFill>
            <a:srgbClr val="DEE0E3">
              <a:alpha val="75000"/>
            </a:srgbClr>
          </a:solidFill>
          <a:ln w="25400" cap="flat" cmpd="sng">
            <a:solidFill>
              <a:srgbClr val="FFFFFF">
                <a:alpha val="75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cxnSp>
        <p:nvCxnSpPr>
          <p:cNvPr id="54" name="Connector 54"/>
          <p:cNvCxnSpPr/>
          <p:nvPr/>
        </p:nvCxnSpPr>
        <p:spPr>
          <a:xfrm rot="-16687">
            <a:off x="6108715" y="4933950"/>
            <a:ext cx="2616200" cy="12700"/>
          </a:xfrm>
          <a:prstGeom prst="straightConnector1">
            <a:avLst/>
          </a:prstGeom>
          <a:solidFill>
            <a:srgbClr val="DEE0E3">
              <a:alpha val="75000"/>
            </a:srgbClr>
          </a:solidFill>
          <a:ln w="25400" cap="flat" cmpd="sng">
            <a:solidFill>
              <a:srgbClr val="FFFFFF">
                <a:alpha val="75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cxnSp>
        <p:nvCxnSpPr>
          <p:cNvPr id="55" name="Connector 55"/>
          <p:cNvCxnSpPr/>
          <p:nvPr/>
        </p:nvCxnSpPr>
        <p:spPr>
          <a:xfrm rot="-16687">
            <a:off x="6108715" y="4819650"/>
            <a:ext cx="2616200" cy="12700"/>
          </a:xfrm>
          <a:prstGeom prst="straightConnector1">
            <a:avLst/>
          </a:prstGeom>
          <a:solidFill>
            <a:srgbClr val="DEE0E3">
              <a:alpha val="75000"/>
            </a:srgbClr>
          </a:solidFill>
          <a:ln w="25400" cap="flat" cmpd="sng">
            <a:solidFill>
              <a:srgbClr val="FFFFFF">
                <a:alpha val="75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cxnSp>
        <p:nvCxnSpPr>
          <p:cNvPr id="56" name="Connector 56"/>
          <p:cNvCxnSpPr/>
          <p:nvPr/>
        </p:nvCxnSpPr>
        <p:spPr>
          <a:xfrm rot="-16687">
            <a:off x="3365515" y="5505450"/>
            <a:ext cx="2616200" cy="12700"/>
          </a:xfrm>
          <a:prstGeom prst="straightConnector1">
            <a:avLst/>
          </a:prstGeom>
          <a:solidFill>
            <a:srgbClr val="DEE0E3">
              <a:alpha val="38000"/>
            </a:srgbClr>
          </a:solidFill>
          <a:ln w="25400" cap="flat" cmpd="sng">
            <a:solidFill>
              <a:srgbClr val="FFFFFF">
                <a:alpha val="38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cxnSp>
        <p:nvCxnSpPr>
          <p:cNvPr id="57" name="Connector 57"/>
          <p:cNvCxnSpPr/>
          <p:nvPr/>
        </p:nvCxnSpPr>
        <p:spPr>
          <a:xfrm rot="-16687">
            <a:off x="3378215" y="5619750"/>
            <a:ext cx="2616200" cy="12700"/>
          </a:xfrm>
          <a:prstGeom prst="straightConnector1">
            <a:avLst/>
          </a:prstGeom>
          <a:solidFill>
            <a:srgbClr val="DEE0E3">
              <a:alpha val="38000"/>
            </a:srgbClr>
          </a:solidFill>
          <a:ln w="25400" cap="flat" cmpd="sng">
            <a:solidFill>
              <a:srgbClr val="FFFFFF">
                <a:alpha val="38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cxnSp>
        <p:nvCxnSpPr>
          <p:cNvPr id="58" name="Connector 58"/>
          <p:cNvCxnSpPr/>
          <p:nvPr/>
        </p:nvCxnSpPr>
        <p:spPr>
          <a:xfrm rot="-16687">
            <a:off x="3378215" y="5848350"/>
            <a:ext cx="2616200" cy="12700"/>
          </a:xfrm>
          <a:prstGeom prst="straightConnector1">
            <a:avLst/>
          </a:prstGeom>
          <a:solidFill>
            <a:srgbClr val="DEE0E3">
              <a:alpha val="38000"/>
            </a:srgbClr>
          </a:solidFill>
          <a:ln w="25400" cap="flat" cmpd="sng">
            <a:solidFill>
              <a:srgbClr val="FFFFFF">
                <a:alpha val="38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cxnSp>
        <p:nvCxnSpPr>
          <p:cNvPr id="59" name="Connector 59"/>
          <p:cNvCxnSpPr/>
          <p:nvPr/>
        </p:nvCxnSpPr>
        <p:spPr>
          <a:xfrm rot="-16687">
            <a:off x="3378215" y="5734050"/>
            <a:ext cx="2616200" cy="12700"/>
          </a:xfrm>
          <a:prstGeom prst="straightConnector1">
            <a:avLst/>
          </a:prstGeom>
          <a:solidFill>
            <a:srgbClr val="DEE0E3">
              <a:alpha val="38000"/>
            </a:srgbClr>
          </a:solidFill>
          <a:ln w="25400" cap="flat" cmpd="sng">
            <a:solidFill>
              <a:srgbClr val="FFFFFF">
                <a:alpha val="38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cxnSp>
        <p:nvCxnSpPr>
          <p:cNvPr id="60" name="Connector 60"/>
          <p:cNvCxnSpPr/>
          <p:nvPr/>
        </p:nvCxnSpPr>
        <p:spPr>
          <a:xfrm rot="-16687">
            <a:off x="3378215" y="5505450"/>
            <a:ext cx="2616200" cy="12700"/>
          </a:xfrm>
          <a:prstGeom prst="straightConnector1">
            <a:avLst/>
          </a:prstGeom>
          <a:solidFill>
            <a:srgbClr val="DEE0E3">
              <a:alpha val="38000"/>
            </a:srgbClr>
          </a:solidFill>
          <a:ln w="25400" cap="flat" cmpd="sng">
            <a:solidFill>
              <a:srgbClr val="FFFFFF">
                <a:alpha val="38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cxnSp>
        <p:nvCxnSpPr>
          <p:cNvPr id="61" name="Connector 61"/>
          <p:cNvCxnSpPr/>
          <p:nvPr/>
        </p:nvCxnSpPr>
        <p:spPr>
          <a:xfrm rot="-16687">
            <a:off x="3378215" y="5619750"/>
            <a:ext cx="2616200" cy="12700"/>
          </a:xfrm>
          <a:prstGeom prst="straightConnector1">
            <a:avLst/>
          </a:prstGeom>
          <a:solidFill>
            <a:srgbClr val="DEE0E3">
              <a:alpha val="38000"/>
            </a:srgbClr>
          </a:solidFill>
          <a:ln w="25400" cap="flat" cmpd="sng">
            <a:solidFill>
              <a:srgbClr val="FFFFFF">
                <a:alpha val="38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cxnSp>
        <p:nvCxnSpPr>
          <p:cNvPr id="62" name="Connector 62"/>
          <p:cNvCxnSpPr/>
          <p:nvPr/>
        </p:nvCxnSpPr>
        <p:spPr>
          <a:xfrm rot="-16687">
            <a:off x="3378215" y="5848350"/>
            <a:ext cx="2616200" cy="12700"/>
          </a:xfrm>
          <a:prstGeom prst="straightConnector1">
            <a:avLst/>
          </a:prstGeom>
          <a:solidFill>
            <a:srgbClr val="DEE0E3">
              <a:alpha val="38000"/>
            </a:srgbClr>
          </a:solidFill>
          <a:ln w="25400" cap="flat" cmpd="sng">
            <a:solidFill>
              <a:srgbClr val="FFFFFF">
                <a:alpha val="38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cxnSp>
        <p:nvCxnSpPr>
          <p:cNvPr id="63" name="Connector 63"/>
          <p:cNvCxnSpPr/>
          <p:nvPr/>
        </p:nvCxnSpPr>
        <p:spPr>
          <a:xfrm rot="-16687">
            <a:off x="3378215" y="5734050"/>
            <a:ext cx="2616200" cy="12700"/>
          </a:xfrm>
          <a:prstGeom prst="straightConnector1">
            <a:avLst/>
          </a:prstGeom>
          <a:solidFill>
            <a:srgbClr val="DEE0E3">
              <a:alpha val="38000"/>
            </a:srgbClr>
          </a:solidFill>
          <a:ln w="25400" cap="flat" cmpd="sng">
            <a:solidFill>
              <a:srgbClr val="FFFFFF">
                <a:alpha val="38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cxnSp>
        <p:nvCxnSpPr>
          <p:cNvPr id="64" name="Connector 64"/>
          <p:cNvCxnSpPr/>
          <p:nvPr/>
        </p:nvCxnSpPr>
        <p:spPr>
          <a:xfrm rot="-16687">
            <a:off x="3365515" y="5048250"/>
            <a:ext cx="2616200" cy="12700"/>
          </a:xfrm>
          <a:prstGeom prst="straightConnector1">
            <a:avLst/>
          </a:prstGeom>
          <a:solidFill>
            <a:srgbClr val="DEE0E3">
              <a:alpha val="38000"/>
            </a:srgbClr>
          </a:solidFill>
          <a:ln w="25400" cap="flat" cmpd="sng">
            <a:solidFill>
              <a:srgbClr val="FFFFFF">
                <a:alpha val="38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cxnSp>
        <p:nvCxnSpPr>
          <p:cNvPr id="65" name="Connector 65"/>
          <p:cNvCxnSpPr/>
          <p:nvPr/>
        </p:nvCxnSpPr>
        <p:spPr>
          <a:xfrm rot="-16687">
            <a:off x="3378215" y="5162550"/>
            <a:ext cx="2616200" cy="12700"/>
          </a:xfrm>
          <a:prstGeom prst="straightConnector1">
            <a:avLst/>
          </a:prstGeom>
          <a:solidFill>
            <a:srgbClr val="DEE0E3">
              <a:alpha val="38000"/>
            </a:srgbClr>
          </a:solidFill>
          <a:ln w="25400" cap="flat" cmpd="sng">
            <a:solidFill>
              <a:srgbClr val="FFFFFF">
                <a:alpha val="38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cxnSp>
        <p:nvCxnSpPr>
          <p:cNvPr id="66" name="Connector 66"/>
          <p:cNvCxnSpPr/>
          <p:nvPr/>
        </p:nvCxnSpPr>
        <p:spPr>
          <a:xfrm rot="-16687">
            <a:off x="3378215" y="5378450"/>
            <a:ext cx="2616200" cy="12700"/>
          </a:xfrm>
          <a:prstGeom prst="straightConnector1">
            <a:avLst/>
          </a:prstGeom>
          <a:solidFill>
            <a:srgbClr val="DEE0E3">
              <a:alpha val="38000"/>
            </a:srgbClr>
          </a:solidFill>
          <a:ln w="25400" cap="flat" cmpd="sng">
            <a:solidFill>
              <a:srgbClr val="FFFFFF">
                <a:alpha val="38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cxnSp>
        <p:nvCxnSpPr>
          <p:cNvPr id="67" name="Connector 67"/>
          <p:cNvCxnSpPr/>
          <p:nvPr/>
        </p:nvCxnSpPr>
        <p:spPr>
          <a:xfrm rot="-16687">
            <a:off x="3378215" y="5276850"/>
            <a:ext cx="2616200" cy="12700"/>
          </a:xfrm>
          <a:prstGeom prst="straightConnector1">
            <a:avLst/>
          </a:prstGeom>
          <a:solidFill>
            <a:srgbClr val="DEE0E3">
              <a:alpha val="38000"/>
            </a:srgbClr>
          </a:solidFill>
          <a:ln w="25400" cap="flat" cmpd="sng">
            <a:solidFill>
              <a:srgbClr val="FFFFFF">
                <a:alpha val="38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cxnSp>
        <p:nvCxnSpPr>
          <p:cNvPr id="68" name="Connector 68"/>
          <p:cNvCxnSpPr/>
          <p:nvPr/>
        </p:nvCxnSpPr>
        <p:spPr>
          <a:xfrm rot="-16687">
            <a:off x="3378215" y="5048250"/>
            <a:ext cx="2616200" cy="12700"/>
          </a:xfrm>
          <a:prstGeom prst="straightConnector1">
            <a:avLst/>
          </a:prstGeom>
          <a:solidFill>
            <a:srgbClr val="DEE0E3">
              <a:alpha val="38000"/>
            </a:srgbClr>
          </a:solidFill>
          <a:ln w="25400" cap="flat" cmpd="sng">
            <a:solidFill>
              <a:srgbClr val="FFFFFF">
                <a:alpha val="38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cxnSp>
        <p:nvCxnSpPr>
          <p:cNvPr id="69" name="Connector 69"/>
          <p:cNvCxnSpPr/>
          <p:nvPr/>
        </p:nvCxnSpPr>
        <p:spPr>
          <a:xfrm rot="-16687">
            <a:off x="3378215" y="5162550"/>
            <a:ext cx="2616200" cy="12700"/>
          </a:xfrm>
          <a:prstGeom prst="straightConnector1">
            <a:avLst/>
          </a:prstGeom>
          <a:solidFill>
            <a:srgbClr val="DEE0E3">
              <a:alpha val="38000"/>
            </a:srgbClr>
          </a:solidFill>
          <a:ln w="25400" cap="flat" cmpd="sng">
            <a:solidFill>
              <a:srgbClr val="FFFFFF">
                <a:alpha val="38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cxnSp>
        <p:nvCxnSpPr>
          <p:cNvPr id="70" name="Connector 70"/>
          <p:cNvCxnSpPr/>
          <p:nvPr/>
        </p:nvCxnSpPr>
        <p:spPr>
          <a:xfrm rot="-16687">
            <a:off x="3378215" y="5378450"/>
            <a:ext cx="2616200" cy="12700"/>
          </a:xfrm>
          <a:prstGeom prst="straightConnector1">
            <a:avLst/>
          </a:prstGeom>
          <a:solidFill>
            <a:srgbClr val="DEE0E3">
              <a:alpha val="38000"/>
            </a:srgbClr>
          </a:solidFill>
          <a:ln w="25400" cap="flat" cmpd="sng">
            <a:solidFill>
              <a:srgbClr val="FFFFFF">
                <a:alpha val="38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cxnSp>
        <p:nvCxnSpPr>
          <p:cNvPr id="71" name="Connector 71"/>
          <p:cNvCxnSpPr/>
          <p:nvPr/>
        </p:nvCxnSpPr>
        <p:spPr>
          <a:xfrm rot="-16687">
            <a:off x="3378215" y="5276850"/>
            <a:ext cx="2616200" cy="12700"/>
          </a:xfrm>
          <a:prstGeom prst="straightConnector1">
            <a:avLst/>
          </a:prstGeom>
          <a:solidFill>
            <a:srgbClr val="DEE0E3">
              <a:alpha val="38000"/>
            </a:srgbClr>
          </a:solidFill>
          <a:ln w="25400" cap="flat" cmpd="sng">
            <a:solidFill>
              <a:srgbClr val="FFFFFF">
                <a:alpha val="38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cxnSp>
        <p:nvCxnSpPr>
          <p:cNvPr id="72" name="Connector 72"/>
          <p:cNvCxnSpPr/>
          <p:nvPr/>
        </p:nvCxnSpPr>
        <p:spPr>
          <a:xfrm rot="5019588">
            <a:off x="971550" y="419452"/>
            <a:ext cx="1143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C5C7C8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406400" y="4572000"/>
            <a:ext cx="6565900" cy="1333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70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感谢观看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406400" y="5994400"/>
            <a:ext cx="635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0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科技让未来更安全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406400" y="330200"/>
            <a:ext cx="762000" cy="190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安全科技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1130300" y="330200"/>
            <a:ext cx="762000" cy="190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智汇守护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11163300" y="317500"/>
            <a:ext cx="622300" cy="266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FFFFFF"/>
                </a:solidFill>
                <a:latin typeface="ChillDuanSans WideSemiBold"/>
                <a:ea typeface="ChillDuanSans WideSemiBold"/>
                <a:cs typeface="ChillDuanSans WideSemiBold"/>
                <a:sym typeface="ChillDuanSans WideSemiBold"/>
              </a:rPr>
              <a:t>LOGO</a:t>
            </a:r>
            <a:endParaRPr lang="en-US" sz="1100"/>
          </a:p>
        </p:txBody>
      </p:sp>
      <p:cxnSp>
        <p:nvCxnSpPr>
          <p:cNvPr id="8" name="Connector 8"/>
          <p:cNvCxnSpPr/>
          <p:nvPr/>
        </p:nvCxnSpPr>
        <p:spPr>
          <a:xfrm rot="5019588">
            <a:off x="971550" y="419452"/>
            <a:ext cx="1143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C5C7C8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4702</Words>
  <Application>WPS Sheets</Application>
  <PresentationFormat/>
  <Paragraphs>517</Paragraphs>
  <Slides>17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17</vt:i4>
      </vt:variant>
    </vt:vector>
  </HeadingPairs>
  <TitlesOfParts>
    <vt:vector size="33" baseType="lpstr">
      <vt:lpstr>Arial</vt:lpstr>
      <vt:lpstr>SimSun</vt:lpstr>
      <vt:lpstr>Wingdings</vt:lpstr>
      <vt:lpstr>Arial</vt:lpstr>
      <vt:lpstr>Noto Sans SC</vt:lpstr>
      <vt:lpstr>Thonburi</vt:lpstr>
      <vt:lpstr>ChillDuanSans WideSemiBold</vt:lpstr>
      <vt:lpstr>SimSun</vt:lpstr>
      <vt:lpstr>汉仪书宋二KW</vt:lpstr>
      <vt:lpstr>微软雅黑</vt:lpstr>
      <vt:lpstr>Arial Unicode MS</vt:lpstr>
      <vt:lpstr>ChillDuanSans WideSemiBold</vt:lpstr>
      <vt:lpstr>Noto Sans SC</vt:lpstr>
      <vt:lpstr>苹方-简</vt:lpstr>
      <vt:lpstr>Office 主题​​</vt:lpstr>
      <vt:lpstr>默认主题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T-rex</cp:lastModifiedBy>
  <cp:revision>1</cp:revision>
  <dcterms:created xsi:type="dcterms:W3CDTF">2026-09-05T08:26:31Z</dcterms:created>
  <dcterms:modified xsi:type="dcterms:W3CDTF">2026-09-05T08:26:31Z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{"Label":"1","ContentProducer":"001191110102MACQD9K64010000","ProduceID":"7681963451044105415","ReservedCode1":"","ContentPropagator":"","PropagateID":"","ReservedCode2":""}</vt:lpwstr>
  </property>
  <property fmtid="{D5CDD505-2E9C-101B-9397-08002B2CF9AE}" pid="3" name="ICV">
    <vt:lpwstr>AFAB90E038BC1BA037D29B6ABA092D5A_42</vt:lpwstr>
  </property>
  <property fmtid="{D5CDD505-2E9C-101B-9397-08002B2CF9AE}" pid="4" name="KSOProductBuildVer">
    <vt:lpwstr>1033-12.1.26055.26055</vt:lpwstr>
  </property>
</Properties>
</file>